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T Sans Narrow"/>
      <p:regular r:id="rId17"/>
      <p:bold r:id="rId18"/>
    </p:embeddedFon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6.xml"/><Relationship Id="rId22" Type="http://schemas.openxmlformats.org/officeDocument/2006/relationships/font" Target="fonts/OpenSans-boldItalic.fntdata"/><Relationship Id="rId10" Type="http://schemas.openxmlformats.org/officeDocument/2006/relationships/slide" Target="slides/slide5.xml"/><Relationship Id="rId21"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TSansNarrow-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penSans-regular.fntdata"/><Relationship Id="rId6" Type="http://schemas.openxmlformats.org/officeDocument/2006/relationships/slide" Target="slides/slide1.xml"/><Relationship Id="rId18" Type="http://schemas.openxmlformats.org/officeDocument/2006/relationships/font" Target="fonts/PTSansNarrow-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23a2f22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23a2f22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23a2f228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23a2f228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73a04f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73a0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c262ef15a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c262ef15a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523a2f228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523a2f228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c262ef15a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c262ef15a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c6f73a04f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c6f73a0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c262ef15a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c262ef15a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523a2f228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523a2f228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6f73a04f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6f73a04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www.seejane.org/" TargetMode="External"/><Relationship Id="rId4" Type="http://schemas.openxmlformats.org/officeDocument/2006/relationships/hyperlink" Target="https://en.wikipedia.org/wiki/Viola_Davis" TargetMode="External"/><Relationship Id="rId5" Type="http://schemas.openxmlformats.org/officeDocument/2006/relationships/hyperlink" Target="https://en.wikipedia.org/wiki/Ruth_Bader_Ginsburg" TargetMode="External"/><Relationship Id="rId6" Type="http://schemas.openxmlformats.org/officeDocument/2006/relationships/hyperlink" Target="https://en.wikipedia.org/wiki/Chimamanda_Ngozi_Adichi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Title Slide </a:t>
            </a:r>
            <a:endParaRPr/>
          </a:p>
        </p:txBody>
      </p:sp>
      <p:sp>
        <p:nvSpPr>
          <p:cNvPr id="67" name="Google Shape;67;p13"/>
          <p:cNvSpPr txBox="1"/>
          <p:nvPr>
            <p:ph idx="1" type="body"/>
          </p:nvPr>
        </p:nvSpPr>
        <p:spPr>
          <a:xfrm>
            <a:off x="311700" y="10588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b="1" lang="en" sz="2200">
                <a:solidFill>
                  <a:srgbClr val="000000"/>
                </a:solidFill>
                <a:latin typeface="Arial"/>
                <a:ea typeface="Arial"/>
                <a:cs typeface="Arial"/>
                <a:sym typeface="Arial"/>
              </a:rPr>
              <a:t>Title:</a:t>
            </a:r>
            <a:r>
              <a:rPr lang="en" sz="2200">
                <a:solidFill>
                  <a:srgbClr val="000000"/>
                </a:solidFill>
                <a:latin typeface="Arial"/>
                <a:ea typeface="Arial"/>
                <a:cs typeface="Arial"/>
                <a:sym typeface="Arial"/>
              </a:rPr>
              <a:t> Source Assessment Writing Project</a:t>
            </a:r>
            <a:endParaRPr sz="2200">
              <a:solidFill>
                <a:srgbClr val="000000"/>
              </a:solidFill>
              <a:latin typeface="Arial"/>
              <a:ea typeface="Arial"/>
              <a:cs typeface="Arial"/>
              <a:sym typeface="Arial"/>
            </a:endParaRPr>
          </a:p>
          <a:p>
            <a:pPr indent="0" lvl="0" marL="0" rtl="0" algn="l">
              <a:spcBef>
                <a:spcPts val="1200"/>
              </a:spcBef>
              <a:spcAft>
                <a:spcPts val="0"/>
              </a:spcAft>
              <a:buNone/>
            </a:pPr>
            <a:r>
              <a:rPr b="1" lang="en" sz="2200">
                <a:solidFill>
                  <a:srgbClr val="000000"/>
                </a:solidFill>
                <a:latin typeface="Arial"/>
                <a:ea typeface="Arial"/>
                <a:cs typeface="Arial"/>
                <a:sym typeface="Arial"/>
              </a:rPr>
              <a:t>Name:</a:t>
            </a:r>
            <a:r>
              <a:rPr lang="en" sz="2200">
                <a:solidFill>
                  <a:srgbClr val="000000"/>
                </a:solidFill>
                <a:latin typeface="Arial"/>
                <a:ea typeface="Arial"/>
                <a:cs typeface="Arial"/>
                <a:sym typeface="Arial"/>
              </a:rPr>
              <a:t> Mingyue</a:t>
            </a:r>
            <a:endParaRPr sz="2200">
              <a:solidFill>
                <a:srgbClr val="000000"/>
              </a:solidFill>
              <a:latin typeface="Arial"/>
              <a:ea typeface="Arial"/>
              <a:cs typeface="Arial"/>
              <a:sym typeface="Arial"/>
            </a:endParaRPr>
          </a:p>
          <a:p>
            <a:pPr indent="0" lvl="0" marL="0" rtl="0" algn="l">
              <a:spcBef>
                <a:spcPts val="1200"/>
              </a:spcBef>
              <a:spcAft>
                <a:spcPts val="0"/>
              </a:spcAft>
              <a:buNone/>
            </a:pPr>
            <a:r>
              <a:rPr b="1" lang="en" sz="2200">
                <a:solidFill>
                  <a:srgbClr val="000000"/>
                </a:solidFill>
                <a:latin typeface="Arial"/>
                <a:ea typeface="Arial"/>
                <a:cs typeface="Arial"/>
                <a:sym typeface="Arial"/>
              </a:rPr>
              <a:t>Course:</a:t>
            </a:r>
            <a:r>
              <a:rPr lang="en" sz="2200">
                <a:solidFill>
                  <a:srgbClr val="000000"/>
                </a:solidFill>
                <a:latin typeface="Arial"/>
                <a:ea typeface="Arial"/>
                <a:cs typeface="Arial"/>
                <a:sym typeface="Arial"/>
              </a:rPr>
              <a:t> EAP II: Academic Writing in the U.S.</a:t>
            </a:r>
            <a:endParaRPr sz="2200">
              <a:solidFill>
                <a:srgbClr val="000000"/>
              </a:solidFill>
              <a:latin typeface="Arial"/>
              <a:ea typeface="Arial"/>
              <a:cs typeface="Arial"/>
              <a:sym typeface="Arial"/>
            </a:endParaRPr>
          </a:p>
          <a:p>
            <a:pPr indent="0" lvl="0" marL="0" rtl="0" algn="l">
              <a:spcBef>
                <a:spcPts val="1200"/>
              </a:spcBef>
              <a:spcAft>
                <a:spcPts val="0"/>
              </a:spcAft>
              <a:buNone/>
            </a:pPr>
            <a:r>
              <a:rPr b="1" lang="en" sz="2200">
                <a:solidFill>
                  <a:srgbClr val="000000"/>
                </a:solidFill>
                <a:latin typeface="Arial"/>
                <a:ea typeface="Arial"/>
                <a:cs typeface="Arial"/>
                <a:sym typeface="Arial"/>
              </a:rPr>
              <a:t>Professor:</a:t>
            </a:r>
            <a:r>
              <a:rPr lang="en" sz="2200">
                <a:solidFill>
                  <a:srgbClr val="000000"/>
                </a:solidFill>
                <a:latin typeface="Arial"/>
                <a:ea typeface="Arial"/>
                <a:cs typeface="Arial"/>
                <a:sym typeface="Arial"/>
              </a:rPr>
              <a:t> Zehala</a:t>
            </a:r>
            <a:endParaRPr sz="2200">
              <a:solidFill>
                <a:srgbClr val="000000"/>
              </a:solidFill>
              <a:latin typeface="Arial"/>
              <a:ea typeface="Arial"/>
              <a:cs typeface="Arial"/>
              <a:sym typeface="Arial"/>
            </a:endParaRPr>
          </a:p>
          <a:p>
            <a:pPr indent="0" lvl="0" marL="0" rtl="0" algn="l">
              <a:spcBef>
                <a:spcPts val="1200"/>
              </a:spcBef>
              <a:spcAft>
                <a:spcPts val="1200"/>
              </a:spcAft>
              <a:buNone/>
            </a:pPr>
            <a:r>
              <a:rPr b="1" lang="en" sz="2200">
                <a:solidFill>
                  <a:srgbClr val="000000"/>
                </a:solidFill>
                <a:latin typeface="Arial"/>
                <a:ea typeface="Arial"/>
                <a:cs typeface="Arial"/>
                <a:sym typeface="Arial"/>
              </a:rPr>
              <a:t>Date:</a:t>
            </a:r>
            <a:r>
              <a:rPr lang="en" sz="2200">
                <a:solidFill>
                  <a:srgbClr val="000000"/>
                </a:solidFill>
                <a:latin typeface="Arial"/>
                <a:ea typeface="Arial"/>
                <a:cs typeface="Arial"/>
                <a:sym typeface="Arial"/>
              </a:rPr>
              <a:t> April 15, 2025</a:t>
            </a:r>
            <a:endParaRPr sz="2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2703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Miss Representation – Primary source</a:t>
            </a:r>
            <a:endParaRPr/>
          </a:p>
        </p:txBody>
      </p:sp>
      <p:sp>
        <p:nvSpPr>
          <p:cNvPr id="73" name="Google Shape;73;p14"/>
          <p:cNvSpPr txBox="1"/>
          <p:nvPr>
            <p:ph idx="1" type="body"/>
          </p:nvPr>
        </p:nvSpPr>
        <p:spPr>
          <a:xfrm>
            <a:off x="311700" y="977700"/>
            <a:ext cx="4260300" cy="3302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a:solidFill>
                  <a:srgbClr val="000000"/>
                </a:solidFill>
                <a:latin typeface="Arial"/>
                <a:ea typeface="Arial"/>
                <a:cs typeface="Arial"/>
                <a:sym typeface="Arial"/>
              </a:rPr>
              <a:t>Information:</a:t>
            </a:r>
            <a:endParaRPr b="1">
              <a:solidFill>
                <a:srgbClr val="00000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a:solidFill>
                  <a:srgbClr val="000000"/>
                </a:solidFill>
                <a:latin typeface="Arial"/>
                <a:ea typeface="Arial"/>
                <a:cs typeface="Arial"/>
                <a:sym typeface="Arial"/>
              </a:rPr>
              <a:t>Directed by Jennifer Siebel Newsom</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Released: 2011, Oprah Winfrey Network</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Discipline: Gender Studies &amp; Media Studies</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A documentary that explores how media underrepresents women and perpetuates stereotypes that limit their roles in society.</a:t>
            </a:r>
            <a:endParaRPr>
              <a:solidFill>
                <a:srgbClr val="000000"/>
              </a:solidFill>
              <a:latin typeface="Arial"/>
              <a:ea typeface="Arial"/>
              <a:cs typeface="Arial"/>
              <a:sym typeface="Arial"/>
            </a:endParaRPr>
          </a:p>
          <a:p>
            <a:pPr indent="0" lvl="0" marL="457200" rtl="0" algn="l">
              <a:spcBef>
                <a:spcPts val="1200"/>
              </a:spcBef>
              <a:spcAft>
                <a:spcPts val="0"/>
              </a:spcAft>
              <a:buNone/>
            </a:pPr>
            <a:r>
              <a:t/>
            </a:r>
            <a:endParaRPr sz="2400">
              <a:solidFill>
                <a:srgbClr val="000000"/>
              </a:solidFill>
              <a:latin typeface="Arial"/>
              <a:ea typeface="Arial"/>
              <a:cs typeface="Arial"/>
              <a:sym typeface="Arial"/>
            </a:endParaRPr>
          </a:p>
          <a:p>
            <a:pPr indent="0" lvl="0" marL="457200" rtl="0" algn="l">
              <a:spcBef>
                <a:spcPts val="1200"/>
              </a:spcBef>
              <a:spcAft>
                <a:spcPts val="0"/>
              </a:spcAft>
              <a:buNone/>
            </a:pPr>
            <a:r>
              <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solidFill>
                <a:srgbClr val="000000"/>
              </a:solidFill>
              <a:latin typeface="Arial"/>
              <a:ea typeface="Arial"/>
              <a:cs typeface="Arial"/>
              <a:sym typeface="Arial"/>
            </a:endParaRPr>
          </a:p>
        </p:txBody>
      </p:sp>
      <p:sp>
        <p:nvSpPr>
          <p:cNvPr id="74" name="Google Shape;74;p14"/>
          <p:cNvSpPr txBox="1"/>
          <p:nvPr/>
        </p:nvSpPr>
        <p:spPr>
          <a:xfrm>
            <a:off x="4695775" y="977700"/>
            <a:ext cx="4313400" cy="436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800"/>
              <a:t>Genre &amp; Rhetorical Strategies</a:t>
            </a:r>
            <a:endParaRPr b="1" sz="1800"/>
          </a:p>
          <a:p>
            <a:pPr indent="-342900" lvl="0" marL="457200" rtl="0" algn="l">
              <a:lnSpc>
                <a:spcPct val="115000"/>
              </a:lnSpc>
              <a:spcBef>
                <a:spcPts val="1200"/>
              </a:spcBef>
              <a:spcAft>
                <a:spcPts val="0"/>
              </a:spcAft>
              <a:buSzPts val="1800"/>
              <a:buChar char="●"/>
            </a:pPr>
            <a:r>
              <a:rPr b="1" lang="en" sz="1800"/>
              <a:t>Genre:</a:t>
            </a:r>
            <a:r>
              <a:rPr lang="en" sz="1800"/>
              <a:t> Documentary Film</a:t>
            </a:r>
            <a:endParaRPr sz="1800"/>
          </a:p>
          <a:p>
            <a:pPr indent="-342900" lvl="0" marL="457200" rtl="0" algn="l">
              <a:lnSpc>
                <a:spcPct val="115000"/>
              </a:lnSpc>
              <a:spcBef>
                <a:spcPts val="0"/>
              </a:spcBef>
              <a:spcAft>
                <a:spcPts val="0"/>
              </a:spcAft>
              <a:buSzPts val="1800"/>
              <a:buChar char="●"/>
            </a:pPr>
            <a:r>
              <a:rPr b="1" lang="en" sz="1800"/>
              <a:t>Ethos:</a:t>
            </a:r>
            <a:r>
              <a:rPr lang="en" sz="1800"/>
              <a:t> Experts like Condoleezza Rice, Katie Couric</a:t>
            </a:r>
            <a:endParaRPr sz="1800"/>
          </a:p>
          <a:p>
            <a:pPr indent="-342900" lvl="0" marL="457200" rtl="0" algn="l">
              <a:lnSpc>
                <a:spcPct val="115000"/>
              </a:lnSpc>
              <a:spcBef>
                <a:spcPts val="0"/>
              </a:spcBef>
              <a:spcAft>
                <a:spcPts val="0"/>
              </a:spcAft>
              <a:buSzPts val="1800"/>
              <a:buChar char="●"/>
            </a:pPr>
            <a:r>
              <a:rPr b="1" lang="en" sz="1800"/>
              <a:t>Pathos:</a:t>
            </a:r>
            <a:r>
              <a:rPr lang="en" sz="1800"/>
              <a:t> Emotional stories from teenage girls</a:t>
            </a:r>
            <a:endParaRPr sz="1800"/>
          </a:p>
          <a:p>
            <a:pPr indent="-342900" lvl="0" marL="457200" rtl="0" algn="l">
              <a:lnSpc>
                <a:spcPct val="115000"/>
              </a:lnSpc>
              <a:spcBef>
                <a:spcPts val="0"/>
              </a:spcBef>
              <a:spcAft>
                <a:spcPts val="0"/>
              </a:spcAft>
              <a:buSzPts val="1800"/>
              <a:buChar char="●"/>
            </a:pPr>
            <a:r>
              <a:rPr b="1" lang="en" sz="1800"/>
              <a:t>Logos:</a:t>
            </a:r>
            <a:r>
              <a:rPr lang="en" sz="1800"/>
              <a:t> Stats like % of female media leaders</a:t>
            </a:r>
            <a:endParaRPr sz="1800"/>
          </a:p>
          <a:p>
            <a:pPr indent="-342900" lvl="0" marL="457200" rtl="0" algn="l">
              <a:lnSpc>
                <a:spcPct val="115000"/>
              </a:lnSpc>
              <a:spcBef>
                <a:spcPts val="0"/>
              </a:spcBef>
              <a:spcAft>
                <a:spcPts val="0"/>
              </a:spcAft>
              <a:buSzPts val="1800"/>
              <a:buChar char="●"/>
            </a:pPr>
            <a:r>
              <a:rPr b="1" lang="en" sz="1800"/>
              <a:t>Juxtaposition:</a:t>
            </a:r>
            <a:r>
              <a:rPr lang="en" sz="1800"/>
              <a:t> Comparing media portrayal with real-life gender inequality</a:t>
            </a:r>
            <a:endParaRPr sz="1800"/>
          </a:p>
          <a:p>
            <a:pPr indent="0" lvl="0" marL="0" rtl="0" algn="l">
              <a:spcBef>
                <a:spcPts val="1200"/>
              </a:spcBef>
              <a:spcAft>
                <a:spcPts val="0"/>
              </a:spcAft>
              <a:buNone/>
            </a:pPr>
            <a:r>
              <a:t/>
            </a:r>
            <a:endParaRPr sz="2400">
              <a:solidFill>
                <a:schemeClr val="dk2"/>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argument from Miss Representation</a:t>
            </a:r>
            <a:endParaRPr/>
          </a:p>
        </p:txBody>
      </p:sp>
      <p:sp>
        <p:nvSpPr>
          <p:cNvPr id="80" name="Google Shape;80;p15"/>
          <p:cNvSpPr txBox="1"/>
          <p:nvPr>
            <p:ph idx="1" type="body"/>
          </p:nvPr>
        </p:nvSpPr>
        <p:spPr>
          <a:xfrm>
            <a:off x="311700" y="445025"/>
            <a:ext cx="8520600" cy="4851300"/>
          </a:xfrm>
          <a:prstGeom prst="rect">
            <a:avLst/>
          </a:prstGeom>
        </p:spPr>
        <p:txBody>
          <a:bodyPr anchorCtr="0" anchor="t" bIns="91425" lIns="91425" spcFirstLastPara="1" rIns="91425" wrap="square" tIns="91425">
            <a:normAutofit fontScale="25000" lnSpcReduction="10000"/>
          </a:bodyPr>
          <a:lstStyle/>
          <a:p>
            <a:pPr indent="0" lvl="0" marL="0" rtl="0" algn="l">
              <a:spcBef>
                <a:spcPts val="1200"/>
              </a:spcBef>
              <a:spcAft>
                <a:spcPts val="0"/>
              </a:spcAft>
              <a:buNone/>
            </a:pPr>
            <a:r>
              <a:t/>
            </a:r>
            <a:endParaRPr b="1" sz="2688">
              <a:solidFill>
                <a:srgbClr val="000000"/>
              </a:solidFill>
              <a:latin typeface="Arial"/>
              <a:ea typeface="Arial"/>
              <a:cs typeface="Arial"/>
              <a:sym typeface="Arial"/>
            </a:endParaRPr>
          </a:p>
          <a:p>
            <a:pPr indent="0" lvl="0" marL="0" rtl="0" algn="l">
              <a:lnSpc>
                <a:spcPct val="200000"/>
              </a:lnSpc>
              <a:spcBef>
                <a:spcPts val="1200"/>
              </a:spcBef>
              <a:spcAft>
                <a:spcPts val="0"/>
              </a:spcAft>
              <a:buNone/>
            </a:pPr>
            <a:r>
              <a:t/>
            </a:r>
            <a:endParaRPr sz="4365">
              <a:solidFill>
                <a:srgbClr val="000000"/>
              </a:solidFill>
              <a:latin typeface="Arial"/>
              <a:ea typeface="Arial"/>
              <a:cs typeface="Arial"/>
              <a:sym typeface="Arial"/>
            </a:endParaRPr>
          </a:p>
          <a:p>
            <a:pPr indent="0" lvl="0" marL="0" rtl="0" algn="l">
              <a:lnSpc>
                <a:spcPct val="200000"/>
              </a:lnSpc>
              <a:spcBef>
                <a:spcPts val="1200"/>
              </a:spcBef>
              <a:spcAft>
                <a:spcPts val="0"/>
              </a:spcAft>
              <a:buNone/>
            </a:pPr>
            <a:r>
              <a:t/>
            </a:r>
            <a:endParaRPr sz="4365">
              <a:solidFill>
                <a:srgbClr val="000000"/>
              </a:solidFill>
              <a:latin typeface="Arial"/>
              <a:ea typeface="Arial"/>
              <a:cs typeface="Arial"/>
              <a:sym typeface="Arial"/>
            </a:endParaRPr>
          </a:p>
          <a:p>
            <a:pPr indent="-345281" lvl="0" marL="457200" rtl="0" algn="l">
              <a:lnSpc>
                <a:spcPct val="200000"/>
              </a:lnSpc>
              <a:spcBef>
                <a:spcPts val="1200"/>
              </a:spcBef>
              <a:spcAft>
                <a:spcPts val="0"/>
              </a:spcAft>
              <a:buClr>
                <a:srgbClr val="000000"/>
              </a:buClr>
              <a:buSzPct val="100000"/>
              <a:buFont typeface="Arial"/>
              <a:buChar char="●"/>
            </a:pPr>
            <a:r>
              <a:rPr lang="en" sz="7350">
                <a:solidFill>
                  <a:srgbClr val="000000"/>
                </a:solidFill>
                <a:latin typeface="Arial"/>
                <a:ea typeface="Arial"/>
                <a:cs typeface="Arial"/>
                <a:sym typeface="Arial"/>
              </a:rPr>
              <a:t>Media shows women in limited, stereotypical ways</a:t>
            </a:r>
            <a:endParaRPr sz="7350">
              <a:solidFill>
                <a:srgbClr val="000000"/>
              </a:solidFill>
              <a:latin typeface="Arial"/>
              <a:ea typeface="Arial"/>
              <a:cs typeface="Arial"/>
              <a:sym typeface="Arial"/>
            </a:endParaRPr>
          </a:p>
          <a:p>
            <a:pPr indent="-345281" lvl="0" marL="457200" rtl="0" algn="l">
              <a:lnSpc>
                <a:spcPct val="200000"/>
              </a:lnSpc>
              <a:spcBef>
                <a:spcPts val="0"/>
              </a:spcBef>
              <a:spcAft>
                <a:spcPts val="0"/>
              </a:spcAft>
              <a:buClr>
                <a:srgbClr val="000000"/>
              </a:buClr>
              <a:buSzPct val="100000"/>
              <a:buFont typeface="Arial"/>
              <a:buChar char="●"/>
            </a:pPr>
            <a:r>
              <a:rPr lang="en" sz="7350">
                <a:solidFill>
                  <a:srgbClr val="000000"/>
                </a:solidFill>
                <a:latin typeface="Arial"/>
                <a:ea typeface="Arial"/>
                <a:cs typeface="Arial"/>
                <a:sym typeface="Arial"/>
              </a:rPr>
              <a:t>These portrayals affect girls’ self-esteem and life goals</a:t>
            </a:r>
            <a:endParaRPr sz="7350">
              <a:solidFill>
                <a:srgbClr val="000000"/>
              </a:solidFill>
              <a:latin typeface="Arial"/>
              <a:ea typeface="Arial"/>
              <a:cs typeface="Arial"/>
              <a:sym typeface="Arial"/>
            </a:endParaRPr>
          </a:p>
          <a:p>
            <a:pPr indent="-345281" lvl="0" marL="457200" rtl="0" algn="l">
              <a:lnSpc>
                <a:spcPct val="200000"/>
              </a:lnSpc>
              <a:spcBef>
                <a:spcPts val="0"/>
              </a:spcBef>
              <a:spcAft>
                <a:spcPts val="0"/>
              </a:spcAft>
              <a:buClr>
                <a:srgbClr val="000000"/>
              </a:buClr>
              <a:buSzPct val="100000"/>
              <a:buFont typeface="Arial"/>
              <a:buChar char="●"/>
            </a:pPr>
            <a:r>
              <a:rPr lang="en" sz="7350">
                <a:solidFill>
                  <a:srgbClr val="000000"/>
                </a:solidFill>
                <a:latin typeface="Arial"/>
                <a:ea typeface="Arial"/>
                <a:cs typeface="Arial"/>
                <a:sym typeface="Arial"/>
              </a:rPr>
              <a:t>Few women in leadership roles reinforces inequality</a:t>
            </a:r>
            <a:endParaRPr sz="7350">
              <a:solidFill>
                <a:srgbClr val="000000"/>
              </a:solidFill>
              <a:latin typeface="Arial"/>
              <a:ea typeface="Arial"/>
              <a:cs typeface="Arial"/>
              <a:sym typeface="Arial"/>
            </a:endParaRPr>
          </a:p>
          <a:p>
            <a:pPr indent="-345281" lvl="0" marL="457200" rtl="0" algn="l">
              <a:lnSpc>
                <a:spcPct val="200000"/>
              </a:lnSpc>
              <a:spcBef>
                <a:spcPts val="0"/>
              </a:spcBef>
              <a:spcAft>
                <a:spcPts val="0"/>
              </a:spcAft>
              <a:buClr>
                <a:srgbClr val="000000"/>
              </a:buClr>
              <a:buSzPct val="100000"/>
              <a:buFont typeface="Arial"/>
              <a:buChar char="●"/>
            </a:pPr>
            <a:r>
              <a:rPr lang="en" sz="7350">
                <a:solidFill>
                  <a:srgbClr val="000000"/>
                </a:solidFill>
                <a:latin typeface="Arial"/>
                <a:ea typeface="Arial"/>
                <a:cs typeface="Arial"/>
                <a:sym typeface="Arial"/>
              </a:rPr>
              <a:t>Cultural norms discourage female leadership</a:t>
            </a:r>
            <a:endParaRPr sz="7350">
              <a:solidFill>
                <a:srgbClr val="000000"/>
              </a:solidFill>
              <a:latin typeface="Arial"/>
              <a:ea typeface="Arial"/>
              <a:cs typeface="Arial"/>
              <a:sym typeface="Arial"/>
            </a:endParaRPr>
          </a:p>
          <a:p>
            <a:pPr indent="-345281" lvl="0" marL="457200" rtl="0" algn="l">
              <a:lnSpc>
                <a:spcPct val="200000"/>
              </a:lnSpc>
              <a:spcBef>
                <a:spcPts val="0"/>
              </a:spcBef>
              <a:spcAft>
                <a:spcPts val="0"/>
              </a:spcAft>
              <a:buClr>
                <a:srgbClr val="000000"/>
              </a:buClr>
              <a:buSzPct val="100000"/>
              <a:buFont typeface="Arial"/>
              <a:buChar char="●"/>
            </a:pPr>
            <a:r>
              <a:rPr lang="en" sz="7350">
                <a:solidFill>
                  <a:srgbClr val="000000"/>
                </a:solidFill>
                <a:latin typeface="Arial"/>
                <a:ea typeface="Arial"/>
                <a:cs typeface="Arial"/>
                <a:sym typeface="Arial"/>
              </a:rPr>
              <a:t>Change requires diverse representation in media creation</a:t>
            </a:r>
            <a:endParaRPr sz="73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1610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Stereotypes highlighted in Miss Representation</a:t>
            </a:r>
            <a:endParaRPr/>
          </a:p>
        </p:txBody>
      </p:sp>
      <p:sp>
        <p:nvSpPr>
          <p:cNvPr id="86" name="Google Shape;86;p16"/>
          <p:cNvSpPr txBox="1"/>
          <p:nvPr>
            <p:ph idx="1" type="body"/>
          </p:nvPr>
        </p:nvSpPr>
        <p:spPr>
          <a:xfrm>
            <a:off x="213425" y="1463325"/>
            <a:ext cx="3999900" cy="29919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000000"/>
              </a:buClr>
              <a:buSzPts val="1400"/>
              <a:buFont typeface="Arial"/>
              <a:buChar char="●"/>
            </a:pPr>
            <a:r>
              <a:rPr b="1" lang="en">
                <a:solidFill>
                  <a:srgbClr val="000000"/>
                </a:solidFill>
                <a:latin typeface="Arial"/>
                <a:ea typeface="Arial"/>
                <a:cs typeface="Arial"/>
                <a:sym typeface="Arial"/>
              </a:rPr>
              <a:t>The Damsel in Distress</a:t>
            </a:r>
            <a:r>
              <a:rPr lang="en">
                <a:solidFill>
                  <a:srgbClr val="000000"/>
                </a:solidFill>
                <a:latin typeface="Arial"/>
                <a:ea typeface="Arial"/>
                <a:cs typeface="Arial"/>
                <a:sym typeface="Arial"/>
              </a:rPr>
              <a:t>: Helpless, waiting for rescue (e.g., </a:t>
            </a:r>
            <a:r>
              <a:rPr i="1" lang="en">
                <a:solidFill>
                  <a:srgbClr val="000000"/>
                </a:solidFill>
                <a:latin typeface="Arial"/>
                <a:ea typeface="Arial"/>
                <a:cs typeface="Arial"/>
                <a:sym typeface="Arial"/>
              </a:rPr>
              <a:t>Snow White</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0" lvl="0" marL="457200" rtl="0" algn="l">
              <a:spcBef>
                <a:spcPts val="1200"/>
              </a:spcBef>
              <a:spcAft>
                <a:spcPts val="0"/>
              </a:spcAft>
              <a:buNone/>
            </a:pPr>
            <a:r>
              <a:rPr lang="en">
                <a:solidFill>
                  <a:srgbClr val="000000"/>
                </a:solidFill>
                <a:latin typeface="Arial"/>
                <a:ea typeface="Arial"/>
                <a:cs typeface="Arial"/>
                <a:sym typeface="Arial"/>
              </a:rPr>
              <a:t>Reinforces passivity and dependence on male characters.</a:t>
            </a:r>
            <a:endParaRPr>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87" name="Google Shape;87;p16"/>
          <p:cNvSpPr txBox="1"/>
          <p:nvPr>
            <p:ph idx="2" type="body"/>
          </p:nvPr>
        </p:nvSpPr>
        <p:spPr>
          <a:xfrm>
            <a:off x="5046000" y="146332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latin typeface="Arial"/>
                <a:ea typeface="Arial"/>
                <a:cs typeface="Arial"/>
                <a:sym typeface="Arial"/>
              </a:rPr>
              <a:t>The Femme Fatale</a:t>
            </a:r>
            <a:r>
              <a:rPr lang="en">
                <a:solidFill>
                  <a:srgbClr val="000000"/>
                </a:solidFill>
                <a:latin typeface="Arial"/>
                <a:ea typeface="Arial"/>
                <a:cs typeface="Arial"/>
                <a:sym typeface="Arial"/>
              </a:rPr>
              <a:t>: Seductive, manipulative villain (e.g. </a:t>
            </a:r>
            <a:r>
              <a:rPr i="1" lang="en">
                <a:solidFill>
                  <a:srgbClr val="000000"/>
                </a:solidFill>
                <a:latin typeface="Arial"/>
                <a:ea typeface="Arial"/>
                <a:cs typeface="Arial"/>
                <a:sym typeface="Arial"/>
              </a:rPr>
              <a:t>Double Indemnity</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0" lvl="0" marL="0" rtl="0" algn="l">
              <a:spcBef>
                <a:spcPts val="1200"/>
              </a:spcBef>
              <a:spcAft>
                <a:spcPts val="0"/>
              </a:spcAft>
              <a:buNone/>
            </a:pPr>
            <a:r>
              <a:rPr lang="en">
                <a:solidFill>
                  <a:srgbClr val="000000"/>
                </a:solidFill>
                <a:latin typeface="Arial"/>
                <a:ea typeface="Arial"/>
                <a:cs typeface="Arial"/>
                <a:sym typeface="Arial"/>
              </a:rPr>
              <a:t>Suggests that ambitious or independent women are dangerous.</a:t>
            </a:r>
            <a:endParaRPr>
              <a:solidFill>
                <a:srgbClr val="000000"/>
              </a:solidFill>
              <a:latin typeface="Arial"/>
              <a:ea typeface="Arial"/>
              <a:cs typeface="Arial"/>
              <a:sym typeface="Arial"/>
            </a:endParaRPr>
          </a:p>
          <a:p>
            <a:pPr indent="0" lvl="0" marL="0" rtl="0" algn="l">
              <a:spcBef>
                <a:spcPts val="1200"/>
              </a:spcBef>
              <a:spcAft>
                <a:spcPts val="0"/>
              </a:spcAft>
              <a:buNone/>
            </a:pPr>
            <a:r>
              <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88" name="Google Shape;88;p16" title="截屏2025-04-04 03.55.27.png"/>
          <p:cNvPicPr preferRelativeResize="0"/>
          <p:nvPr/>
        </p:nvPicPr>
        <p:blipFill>
          <a:blip r:embed="rId3">
            <a:alphaModFix/>
          </a:blip>
          <a:stretch>
            <a:fillRect/>
          </a:stretch>
        </p:blipFill>
        <p:spPr>
          <a:xfrm>
            <a:off x="796359" y="2699550"/>
            <a:ext cx="3058541" cy="2274675"/>
          </a:xfrm>
          <a:prstGeom prst="rect">
            <a:avLst/>
          </a:prstGeom>
          <a:noFill/>
          <a:ln>
            <a:noFill/>
          </a:ln>
        </p:spPr>
      </p:pic>
      <p:pic>
        <p:nvPicPr>
          <p:cNvPr id="89" name="Google Shape;89;p16" title="截屏2025-04-04 03.57.35.png"/>
          <p:cNvPicPr preferRelativeResize="0"/>
          <p:nvPr/>
        </p:nvPicPr>
        <p:blipFill>
          <a:blip r:embed="rId4">
            <a:alphaModFix/>
          </a:blip>
          <a:stretch>
            <a:fillRect/>
          </a:stretch>
        </p:blipFill>
        <p:spPr>
          <a:xfrm>
            <a:off x="5218204" y="2699550"/>
            <a:ext cx="3196847" cy="2318374"/>
          </a:xfrm>
          <a:prstGeom prst="rect">
            <a:avLst/>
          </a:prstGeom>
          <a:noFill/>
          <a:ln>
            <a:noFill/>
          </a:ln>
        </p:spPr>
      </p:pic>
      <p:sp>
        <p:nvSpPr>
          <p:cNvPr id="90" name="Google Shape;90;p16"/>
          <p:cNvSpPr txBox="1"/>
          <p:nvPr/>
        </p:nvSpPr>
        <p:spPr>
          <a:xfrm>
            <a:off x="469575" y="868475"/>
            <a:ext cx="7382100" cy="2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t>The film </a:t>
            </a:r>
            <a:r>
              <a:rPr i="1" lang="en" sz="1500"/>
              <a:t>Miss Representation</a:t>
            </a:r>
            <a:r>
              <a:rPr lang="en" sz="1500"/>
              <a:t> directly criticizes the repetitive and narrow portrayals of women in media. Several stereotypes are discussed:</a:t>
            </a:r>
            <a:endParaRPr sz="2200">
              <a:solidFill>
                <a:schemeClr val="dk2"/>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idx="1" type="body"/>
          </p:nvPr>
        </p:nvSpPr>
        <p:spPr>
          <a:xfrm>
            <a:off x="164688" y="206875"/>
            <a:ext cx="4191600" cy="369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rgbClr val="000000"/>
                </a:solidFill>
                <a:latin typeface="Arial"/>
                <a:ea typeface="Arial"/>
                <a:cs typeface="Arial"/>
                <a:sym typeface="Arial"/>
              </a:rPr>
              <a:t>The Strong But Emotionally Cold Woman</a:t>
            </a:r>
            <a:r>
              <a:rPr lang="en" sz="1500">
                <a:solidFill>
                  <a:srgbClr val="000000"/>
                </a:solidFill>
                <a:latin typeface="Arial"/>
                <a:ea typeface="Arial"/>
                <a:cs typeface="Arial"/>
                <a:sym typeface="Arial"/>
              </a:rPr>
              <a:t>: Powerful but lacks depth ( e.g. </a:t>
            </a:r>
            <a:r>
              <a:rPr i="1" lang="en" sz="1500">
                <a:solidFill>
                  <a:srgbClr val="000000"/>
                </a:solidFill>
                <a:latin typeface="Arial"/>
                <a:ea typeface="Arial"/>
                <a:cs typeface="Arial"/>
                <a:sym typeface="Arial"/>
              </a:rPr>
              <a:t>Captain Marvel</a:t>
            </a:r>
            <a:r>
              <a:rPr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Ignores emotional complexity and human flaws.</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96" name="Google Shape;96;p17"/>
          <p:cNvSpPr txBox="1"/>
          <p:nvPr>
            <p:ph idx="2" type="body"/>
          </p:nvPr>
        </p:nvSpPr>
        <p:spPr>
          <a:xfrm>
            <a:off x="4695250" y="206875"/>
            <a:ext cx="4089600" cy="395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rgbClr val="000000"/>
                </a:solidFill>
                <a:latin typeface="Arial"/>
                <a:ea typeface="Arial"/>
                <a:cs typeface="Arial"/>
                <a:sym typeface="Arial"/>
              </a:rPr>
              <a:t>The Perfect Wife/Mother</a:t>
            </a:r>
            <a:r>
              <a:rPr lang="en" sz="1500">
                <a:solidFill>
                  <a:srgbClr val="000000"/>
                </a:solidFill>
                <a:latin typeface="Arial"/>
                <a:ea typeface="Arial"/>
                <a:cs typeface="Arial"/>
                <a:sym typeface="Arial"/>
              </a:rPr>
              <a:t>: Defined by family duties (e.g. </a:t>
            </a:r>
            <a:r>
              <a:rPr i="1" lang="en" sz="1500">
                <a:solidFill>
                  <a:srgbClr val="000000"/>
                </a:solidFill>
                <a:latin typeface="Arial"/>
                <a:ea typeface="Arial"/>
                <a:cs typeface="Arial"/>
                <a:sym typeface="Arial"/>
              </a:rPr>
              <a:t>romantic comedies</a:t>
            </a:r>
            <a:r>
              <a:rPr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Reinforces that a woman’s happiness is tied solely to family life.</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97" name="Google Shape;97;p17" title="截屏2025-04-04 03.59.45.png"/>
          <p:cNvPicPr preferRelativeResize="0"/>
          <p:nvPr/>
        </p:nvPicPr>
        <p:blipFill>
          <a:blip r:embed="rId3">
            <a:alphaModFix/>
          </a:blip>
          <a:stretch>
            <a:fillRect/>
          </a:stretch>
        </p:blipFill>
        <p:spPr>
          <a:xfrm>
            <a:off x="294800" y="1807250"/>
            <a:ext cx="3297999" cy="2496875"/>
          </a:xfrm>
          <a:prstGeom prst="rect">
            <a:avLst/>
          </a:prstGeom>
          <a:noFill/>
          <a:ln>
            <a:noFill/>
          </a:ln>
        </p:spPr>
      </p:pic>
      <p:pic>
        <p:nvPicPr>
          <p:cNvPr id="98" name="Google Shape;98;p17" title="截屏2025-04-04 04.02.51.png"/>
          <p:cNvPicPr preferRelativeResize="0"/>
          <p:nvPr/>
        </p:nvPicPr>
        <p:blipFill>
          <a:blip r:embed="rId4">
            <a:alphaModFix/>
          </a:blip>
          <a:stretch>
            <a:fillRect/>
          </a:stretch>
        </p:blipFill>
        <p:spPr>
          <a:xfrm>
            <a:off x="4774375" y="1627125"/>
            <a:ext cx="3751476" cy="2677000"/>
          </a:xfrm>
          <a:prstGeom prst="rect">
            <a:avLst/>
          </a:prstGeom>
          <a:noFill/>
          <a:ln>
            <a:noFill/>
          </a:ln>
        </p:spPr>
      </p:pic>
      <p:sp>
        <p:nvSpPr>
          <p:cNvPr id="99" name="Google Shape;99;p17"/>
          <p:cNvSpPr txBox="1"/>
          <p:nvPr/>
        </p:nvSpPr>
        <p:spPr>
          <a:xfrm>
            <a:off x="294800" y="4477350"/>
            <a:ext cx="835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Open Sans"/>
                <a:ea typeface="Open Sans"/>
                <a:cs typeface="Open Sans"/>
                <a:sym typeface="Open Sans"/>
              </a:rPr>
              <a:t>The film argues that these tropes limit how young girls imagine their future and keep society stuck in outdated roles.</a:t>
            </a:r>
            <a:endParaRPr sz="1800">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2921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Brief history of women in documentary</a:t>
            </a:r>
            <a:endParaRPr/>
          </a:p>
        </p:txBody>
      </p:sp>
      <p:sp>
        <p:nvSpPr>
          <p:cNvPr id="105" name="Google Shape;105;p18"/>
          <p:cNvSpPr txBox="1"/>
          <p:nvPr>
            <p:ph idx="1" type="body"/>
          </p:nvPr>
        </p:nvSpPr>
        <p:spPr>
          <a:xfrm>
            <a:off x="213400" y="999550"/>
            <a:ext cx="83808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Arial"/>
                <a:ea typeface="Arial"/>
                <a:cs typeface="Arial"/>
                <a:sym typeface="Arial"/>
              </a:rPr>
              <a:t>From the </a:t>
            </a:r>
            <a:r>
              <a:rPr b="1" lang="en">
                <a:solidFill>
                  <a:srgbClr val="000000"/>
                </a:solidFill>
                <a:latin typeface="Arial"/>
                <a:ea typeface="Arial"/>
                <a:cs typeface="Arial"/>
                <a:sym typeface="Arial"/>
              </a:rPr>
              <a:t>1920s - 1950s</a:t>
            </a:r>
            <a:r>
              <a:rPr lang="en">
                <a:solidFill>
                  <a:srgbClr val="000000"/>
                </a:solidFill>
                <a:latin typeface="Arial"/>
                <a:ea typeface="Arial"/>
                <a:cs typeface="Arial"/>
                <a:sym typeface="Arial"/>
              </a:rPr>
              <a:t>, Hollywood built a formula: women were mostly love interests, mothers, or passive figures. </a:t>
            </a:r>
            <a:r>
              <a:rPr i="1" lang="en">
                <a:solidFill>
                  <a:srgbClr val="000000"/>
                </a:solidFill>
                <a:latin typeface="Arial"/>
                <a:ea typeface="Arial"/>
                <a:cs typeface="Arial"/>
                <a:sym typeface="Arial"/>
              </a:rPr>
              <a:t>Miss Representation</a:t>
            </a:r>
            <a:r>
              <a:rPr lang="en">
                <a:solidFill>
                  <a:srgbClr val="000000"/>
                </a:solidFill>
                <a:latin typeface="Arial"/>
                <a:ea typeface="Arial"/>
                <a:cs typeface="Arial"/>
                <a:sym typeface="Arial"/>
              </a:rPr>
              <a:t> shows old clips to highlight how these roles were repeated until they became the norm.</a:t>
            </a:r>
            <a:endParaRPr>
              <a:solidFill>
                <a:srgbClr val="000000"/>
              </a:solidFill>
              <a:latin typeface="Arial"/>
              <a:ea typeface="Arial"/>
              <a:cs typeface="Arial"/>
              <a:sym typeface="Arial"/>
            </a:endParaRPr>
          </a:p>
          <a:p>
            <a:pPr indent="0" lvl="0" marL="0" rtl="0" algn="l">
              <a:spcBef>
                <a:spcPts val="1200"/>
              </a:spcBef>
              <a:spcAft>
                <a:spcPts val="0"/>
              </a:spcAft>
              <a:buNone/>
            </a:pPr>
            <a:r>
              <a:rPr b="1" lang="en">
                <a:solidFill>
                  <a:srgbClr val="000000"/>
                </a:solidFill>
                <a:latin typeface="Arial"/>
                <a:ea typeface="Arial"/>
                <a:cs typeface="Arial"/>
                <a:sym typeface="Arial"/>
              </a:rPr>
              <a:t>1960s - 1980s:</a:t>
            </a:r>
            <a:r>
              <a:rPr lang="en">
                <a:solidFill>
                  <a:srgbClr val="000000"/>
                </a:solidFill>
                <a:latin typeface="Arial"/>
                <a:ea typeface="Arial"/>
                <a:cs typeface="Arial"/>
                <a:sym typeface="Arial"/>
              </a:rPr>
              <a:t> The feminist movement influenced some films, but even as women gained rights in real life, their roles on screen lagged behind. The film points out that media didn’t keep up with social change.</a:t>
            </a:r>
            <a:endParaRPr>
              <a:solidFill>
                <a:srgbClr val="000000"/>
              </a:solidFill>
              <a:latin typeface="Arial"/>
              <a:ea typeface="Arial"/>
              <a:cs typeface="Arial"/>
              <a:sym typeface="Arial"/>
            </a:endParaRPr>
          </a:p>
          <a:p>
            <a:pPr indent="0" lvl="0" marL="0" rtl="0" algn="l">
              <a:spcBef>
                <a:spcPts val="1200"/>
              </a:spcBef>
              <a:spcAft>
                <a:spcPts val="0"/>
              </a:spcAft>
              <a:buNone/>
            </a:pPr>
            <a:r>
              <a:rPr lang="en">
                <a:solidFill>
                  <a:srgbClr val="000000"/>
                </a:solidFill>
                <a:latin typeface="Arial"/>
                <a:ea typeface="Arial"/>
                <a:cs typeface="Arial"/>
                <a:sym typeface="Arial"/>
              </a:rPr>
              <a:t>In the </a:t>
            </a:r>
            <a:r>
              <a:rPr b="1" lang="en">
                <a:solidFill>
                  <a:srgbClr val="000000"/>
                </a:solidFill>
                <a:latin typeface="Arial"/>
                <a:ea typeface="Arial"/>
                <a:cs typeface="Arial"/>
                <a:sym typeface="Arial"/>
              </a:rPr>
              <a:t>1990s - 2000s</a:t>
            </a:r>
            <a:r>
              <a:rPr lang="en">
                <a:solidFill>
                  <a:srgbClr val="000000"/>
                </a:solidFill>
                <a:latin typeface="Arial"/>
                <a:ea typeface="Arial"/>
                <a:cs typeface="Arial"/>
                <a:sym typeface="Arial"/>
              </a:rPr>
              <a:t>, more female leads appeared, but were still framed by the “male gaze” - valued for their looks, not their ideas. </a:t>
            </a:r>
            <a:r>
              <a:rPr i="1" lang="en">
                <a:solidFill>
                  <a:srgbClr val="000000"/>
                </a:solidFill>
                <a:latin typeface="Arial"/>
                <a:ea typeface="Arial"/>
                <a:cs typeface="Arial"/>
                <a:sym typeface="Arial"/>
              </a:rPr>
              <a:t>Miss Representation</a:t>
            </a:r>
            <a:r>
              <a:rPr lang="en">
                <a:solidFill>
                  <a:srgbClr val="000000"/>
                </a:solidFill>
                <a:latin typeface="Arial"/>
                <a:ea typeface="Arial"/>
                <a:cs typeface="Arial"/>
                <a:sym typeface="Arial"/>
              </a:rPr>
              <a:t> analyzes how even “strong” female characters are sexualized.</a:t>
            </a:r>
            <a:endParaRPr>
              <a:solidFill>
                <a:srgbClr val="000000"/>
              </a:solidFill>
              <a:latin typeface="Arial"/>
              <a:ea typeface="Arial"/>
              <a:cs typeface="Arial"/>
              <a:sym typeface="Arial"/>
            </a:endParaRPr>
          </a:p>
          <a:p>
            <a:pPr indent="0" lvl="0" marL="0" rtl="0" algn="l">
              <a:spcBef>
                <a:spcPts val="1200"/>
              </a:spcBef>
              <a:spcAft>
                <a:spcPts val="0"/>
              </a:spcAft>
              <a:buNone/>
            </a:pPr>
            <a:r>
              <a:rPr lang="en">
                <a:solidFill>
                  <a:srgbClr val="000000"/>
                </a:solidFill>
                <a:latin typeface="Arial"/>
                <a:ea typeface="Arial"/>
                <a:cs typeface="Arial"/>
                <a:sym typeface="Arial"/>
              </a:rPr>
              <a:t>The documentary shows that from </a:t>
            </a:r>
            <a:r>
              <a:rPr b="1" lang="en">
                <a:solidFill>
                  <a:srgbClr val="000000"/>
                </a:solidFill>
                <a:latin typeface="Arial"/>
                <a:ea typeface="Arial"/>
                <a:cs typeface="Arial"/>
                <a:sym typeface="Arial"/>
              </a:rPr>
              <a:t>2000s to now</a:t>
            </a:r>
            <a:r>
              <a:rPr lang="en">
                <a:solidFill>
                  <a:srgbClr val="000000"/>
                </a:solidFill>
                <a:latin typeface="Arial"/>
                <a:ea typeface="Arial"/>
                <a:cs typeface="Arial"/>
                <a:sym typeface="Arial"/>
              </a:rPr>
              <a:t>, women are still drastically underrepresented:</a:t>
            </a: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“In 2010, women made up only 16% of protagonists in top-grossing films.”</a:t>
            </a:r>
            <a:endParaRPr>
              <a:solidFill>
                <a:srgbClr val="000000"/>
              </a:solidFill>
              <a:latin typeface="Arial"/>
              <a:ea typeface="Arial"/>
              <a:cs typeface="Arial"/>
              <a:sym typeface="Arial"/>
            </a:endParaRPr>
          </a:p>
          <a:p>
            <a:pPr indent="0" lvl="0" marL="0" rtl="0" algn="l">
              <a:spcBef>
                <a:spcPts val="1200"/>
              </a:spcBef>
              <a:spcAft>
                <a:spcPts val="0"/>
              </a:spcAft>
              <a:buNone/>
            </a:pPr>
            <a:r>
              <a:rPr lang="en">
                <a:solidFill>
                  <a:srgbClr val="000000"/>
                </a:solidFill>
                <a:latin typeface="Arial"/>
                <a:ea typeface="Arial"/>
                <a:cs typeface="Arial"/>
                <a:sym typeface="Arial"/>
              </a:rPr>
              <a:t>Even when women are on screen, they're often shown in narrow ways. </a:t>
            </a:r>
            <a:r>
              <a:rPr i="1" lang="en">
                <a:solidFill>
                  <a:srgbClr val="000000"/>
                </a:solidFill>
                <a:latin typeface="Arial"/>
                <a:ea typeface="Arial"/>
                <a:cs typeface="Arial"/>
                <a:sym typeface="Arial"/>
              </a:rPr>
              <a:t>Miss Representation</a:t>
            </a:r>
            <a:r>
              <a:rPr lang="en">
                <a:solidFill>
                  <a:srgbClr val="000000"/>
                </a:solidFill>
                <a:latin typeface="Arial"/>
                <a:ea typeface="Arial"/>
                <a:cs typeface="Arial"/>
                <a:sym typeface="Arial"/>
              </a:rPr>
              <a:t> uses fast-paced media montages to prove how persistent these stereotypes are - even in “modern” films.</a:t>
            </a:r>
            <a:endParaRPr>
              <a:solidFill>
                <a:srgbClr val="000000"/>
              </a:solidFill>
              <a:latin typeface="Arial"/>
              <a:ea typeface="Arial"/>
              <a:cs typeface="Arial"/>
              <a:sym typeface="Arial"/>
            </a:endParaRPr>
          </a:p>
          <a:p>
            <a:pPr indent="0" lvl="0" marL="0" rtl="0" algn="l">
              <a:spcBef>
                <a:spcPts val="1200"/>
              </a:spcBef>
              <a:spcAft>
                <a:spcPts val="0"/>
              </a:spcAft>
              <a:buNone/>
            </a:pPr>
            <a:r>
              <a:t/>
            </a:r>
            <a:endParaRPr sz="2000">
              <a:solidFill>
                <a:srgbClr val="000000"/>
              </a:solidFill>
              <a:latin typeface="Arial"/>
              <a:ea typeface="Arial"/>
              <a:cs typeface="Arial"/>
              <a:sym typeface="Arial"/>
            </a:endParaRPr>
          </a:p>
          <a:p>
            <a:pPr indent="0" lvl="0" marL="0" rtl="0" algn="l">
              <a:spcBef>
                <a:spcPts val="1200"/>
              </a:spcBef>
              <a:spcAft>
                <a:spcPts val="1200"/>
              </a:spcAft>
              <a:buNone/>
            </a:pPr>
            <a:r>
              <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260775"/>
            <a:ext cx="68151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080"/>
              <a:t>Roots causes according to Miss Representation</a:t>
            </a:r>
            <a:endParaRPr sz="3080"/>
          </a:p>
        </p:txBody>
      </p:sp>
      <p:sp>
        <p:nvSpPr>
          <p:cNvPr id="111" name="Google Shape;111;p19"/>
          <p:cNvSpPr txBox="1"/>
          <p:nvPr>
            <p:ph idx="1" type="body"/>
          </p:nvPr>
        </p:nvSpPr>
        <p:spPr>
          <a:xfrm>
            <a:off x="414950" y="1116575"/>
            <a:ext cx="7677000" cy="3480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i="1" lang="en" sz="1700">
                <a:solidFill>
                  <a:srgbClr val="000000"/>
                </a:solidFill>
                <a:latin typeface="Arial"/>
                <a:ea typeface="Arial"/>
                <a:cs typeface="Arial"/>
                <a:sym typeface="Arial"/>
              </a:rPr>
              <a:t>Miss Representation</a:t>
            </a:r>
            <a:r>
              <a:rPr lang="en" sz="1700">
                <a:solidFill>
                  <a:srgbClr val="000000"/>
                </a:solidFill>
                <a:latin typeface="Arial"/>
                <a:ea typeface="Arial"/>
                <a:cs typeface="Arial"/>
                <a:sym typeface="Arial"/>
              </a:rPr>
              <a:t> uncovers why these damaging portrayals persist:</a:t>
            </a:r>
            <a:endParaRPr sz="1700">
              <a:solidFill>
                <a:srgbClr val="000000"/>
              </a:solidFill>
              <a:latin typeface="Arial"/>
              <a:ea typeface="Arial"/>
              <a:cs typeface="Arial"/>
              <a:sym typeface="Arial"/>
            </a:endParaRPr>
          </a:p>
          <a:p>
            <a:pPr indent="-336550" lvl="0" marL="457200" rtl="0" algn="l">
              <a:spcBef>
                <a:spcPts val="1200"/>
              </a:spcBef>
              <a:spcAft>
                <a:spcPts val="0"/>
              </a:spcAft>
              <a:buClr>
                <a:srgbClr val="000000"/>
              </a:buClr>
              <a:buSzPts val="1700"/>
              <a:buFont typeface="Arial"/>
              <a:buChar char="●"/>
            </a:pPr>
            <a:r>
              <a:rPr b="1" lang="en" sz="1700">
                <a:solidFill>
                  <a:srgbClr val="000000"/>
                </a:solidFill>
                <a:latin typeface="Arial"/>
                <a:ea typeface="Arial"/>
                <a:cs typeface="Arial"/>
                <a:sym typeface="Arial"/>
              </a:rPr>
              <a:t>Male-Dominated Media Industry:</a:t>
            </a:r>
            <a:r>
              <a:rPr lang="en" sz="1700">
                <a:solidFill>
                  <a:srgbClr val="000000"/>
                </a:solidFill>
                <a:latin typeface="Arial"/>
                <a:ea typeface="Arial"/>
                <a:cs typeface="Arial"/>
                <a:sym typeface="Arial"/>
              </a:rPr>
              <a:t> The film shows that most decision-makers in Hollywood are men, which leads to limited female perspectives on screen.</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b="1" lang="en" sz="1700">
                <a:solidFill>
                  <a:srgbClr val="000000"/>
                </a:solidFill>
                <a:latin typeface="Arial"/>
                <a:ea typeface="Arial"/>
                <a:cs typeface="Arial"/>
                <a:sym typeface="Arial"/>
              </a:rPr>
              <a:t>Cultural Conditioning:</a:t>
            </a:r>
            <a:r>
              <a:rPr lang="en" sz="1700">
                <a:solidFill>
                  <a:srgbClr val="000000"/>
                </a:solidFill>
                <a:latin typeface="Arial"/>
                <a:ea typeface="Arial"/>
                <a:cs typeface="Arial"/>
                <a:sym typeface="Arial"/>
              </a:rPr>
              <a:t> The documentary includes interviews with teenagers who share how media has taught them to value appearance over intellect.</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b="1" lang="en" sz="1700">
                <a:solidFill>
                  <a:srgbClr val="000000"/>
                </a:solidFill>
                <a:latin typeface="Arial"/>
                <a:ea typeface="Arial"/>
                <a:cs typeface="Arial"/>
                <a:sym typeface="Arial"/>
              </a:rPr>
              <a:t>Profit-Driven Storytelling:</a:t>
            </a:r>
            <a:r>
              <a:rPr lang="en" sz="1700">
                <a:solidFill>
                  <a:srgbClr val="000000"/>
                </a:solidFill>
                <a:latin typeface="Arial"/>
                <a:ea typeface="Arial"/>
                <a:cs typeface="Arial"/>
                <a:sym typeface="Arial"/>
              </a:rPr>
              <a:t> Jennifer Siebel Newsom argues that media companies stick to familiar gender roles because “sex sells.”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b="1" lang="en" sz="1700">
                <a:solidFill>
                  <a:srgbClr val="000000"/>
                </a:solidFill>
                <a:latin typeface="Arial"/>
                <a:ea typeface="Arial"/>
                <a:cs typeface="Arial"/>
                <a:sym typeface="Arial"/>
              </a:rPr>
              <a:t>Lack of Female Leadership:</a:t>
            </a:r>
            <a:r>
              <a:rPr lang="en" sz="1700">
                <a:solidFill>
                  <a:srgbClr val="000000"/>
                </a:solidFill>
                <a:latin typeface="Arial"/>
                <a:ea typeface="Arial"/>
                <a:cs typeface="Arial"/>
                <a:sym typeface="Arial"/>
              </a:rPr>
              <a:t> Fewer women behind the scenes means fewer stories that challenge the norm. The film shows how this lack of diversity limits innovation.</a:t>
            </a:r>
            <a:endParaRPr sz="1700">
              <a:solidFill>
                <a:srgbClr val="000000"/>
              </a:solidFill>
              <a:latin typeface="Arial"/>
              <a:ea typeface="Arial"/>
              <a:cs typeface="Arial"/>
              <a:sym typeface="Arial"/>
            </a:endParaRPr>
          </a:p>
          <a:p>
            <a:pPr indent="0" lvl="0" marL="0" rtl="0" algn="l">
              <a:lnSpc>
                <a:spcPct val="95000"/>
              </a:lnSpc>
              <a:spcBef>
                <a:spcPts val="1200"/>
              </a:spcBef>
              <a:spcAft>
                <a:spcPts val="0"/>
              </a:spcAft>
              <a:buSzPts val="1018"/>
              <a:buNone/>
            </a:pPr>
            <a:r>
              <a:t/>
            </a:r>
            <a:endParaRPr b="1" sz="1887">
              <a:solidFill>
                <a:srgbClr val="000000"/>
              </a:solidFill>
              <a:latin typeface="Arial"/>
              <a:ea typeface="Arial"/>
              <a:cs typeface="Arial"/>
              <a:sym typeface="Arial"/>
            </a:endParaRPr>
          </a:p>
          <a:p>
            <a:pPr indent="0" lvl="0" marL="0" rtl="0" algn="l">
              <a:lnSpc>
                <a:spcPct val="95000"/>
              </a:lnSpc>
              <a:spcBef>
                <a:spcPts val="1200"/>
              </a:spcBef>
              <a:spcAft>
                <a:spcPts val="1200"/>
              </a:spcAft>
              <a:buSzPts val="1018"/>
              <a:buNone/>
            </a:pPr>
            <a:r>
              <a:t/>
            </a:r>
            <a:endParaRPr sz="131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556950" y="238900"/>
            <a:ext cx="77802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3311"/>
              <a:t>The real-world effect: as </a:t>
            </a:r>
            <a:r>
              <a:rPr lang="en" sz="3311"/>
              <a:t>shown</a:t>
            </a:r>
            <a:r>
              <a:rPr lang="en" sz="3311"/>
              <a:t> in Miss Representation</a:t>
            </a:r>
            <a:endParaRPr sz="3311"/>
          </a:p>
        </p:txBody>
      </p:sp>
      <p:sp>
        <p:nvSpPr>
          <p:cNvPr id="117" name="Google Shape;117;p20"/>
          <p:cNvSpPr txBox="1"/>
          <p:nvPr>
            <p:ph idx="1" type="body"/>
          </p:nvPr>
        </p:nvSpPr>
        <p:spPr>
          <a:xfrm>
            <a:off x="556950" y="1106950"/>
            <a:ext cx="7780200" cy="3810300"/>
          </a:xfrm>
          <a:prstGeom prst="rect">
            <a:avLst/>
          </a:prstGeom>
        </p:spPr>
        <p:txBody>
          <a:bodyPr anchorCtr="0" anchor="t" bIns="91425" lIns="91425" spcFirstLastPara="1" rIns="91425" wrap="square" tIns="91425">
            <a:normAutofit fontScale="25000" lnSpcReduction="20000"/>
          </a:bodyPr>
          <a:lstStyle/>
          <a:p>
            <a:pPr indent="-311150" lvl="0" marL="457200" rtl="0" algn="l">
              <a:spcBef>
                <a:spcPts val="1200"/>
              </a:spcBef>
              <a:spcAft>
                <a:spcPts val="0"/>
              </a:spcAft>
              <a:buClr>
                <a:srgbClr val="000000"/>
              </a:buClr>
              <a:buSzPct val="100000"/>
              <a:buFont typeface="Arial"/>
              <a:buChar char="●"/>
            </a:pPr>
            <a:r>
              <a:rPr b="1" lang="en" sz="5200">
                <a:solidFill>
                  <a:srgbClr val="000000"/>
                </a:solidFill>
                <a:latin typeface="Arial"/>
                <a:ea typeface="Arial"/>
                <a:cs typeface="Arial"/>
                <a:sym typeface="Arial"/>
              </a:rPr>
              <a:t>Self-Esteem:</a:t>
            </a:r>
            <a:br>
              <a:rPr b="1" lang="en" sz="5200">
                <a:solidFill>
                  <a:srgbClr val="000000"/>
                </a:solidFill>
                <a:latin typeface="Arial"/>
                <a:ea typeface="Arial"/>
                <a:cs typeface="Arial"/>
                <a:sym typeface="Arial"/>
              </a:rPr>
            </a:br>
            <a:r>
              <a:rPr lang="en" sz="5200">
                <a:solidFill>
                  <a:srgbClr val="000000"/>
                </a:solidFill>
                <a:latin typeface="Arial"/>
                <a:ea typeface="Arial"/>
                <a:cs typeface="Arial"/>
                <a:sym typeface="Arial"/>
              </a:rPr>
              <a:t>The film features interviews with teenage girls who talk about feeling pressure to be thin, beautiful, and “perfect.” One says:“I don’t want to be smart. Smart girls aren’t pretty.”</a:t>
            </a:r>
            <a:br>
              <a:rPr lang="en" sz="5200">
                <a:solidFill>
                  <a:srgbClr val="000000"/>
                </a:solidFill>
                <a:latin typeface="Arial"/>
                <a:ea typeface="Arial"/>
                <a:cs typeface="Arial"/>
                <a:sym typeface="Arial"/>
              </a:rPr>
            </a:br>
            <a:r>
              <a:rPr lang="en" sz="5200">
                <a:solidFill>
                  <a:srgbClr val="000000"/>
                </a:solidFill>
                <a:latin typeface="Arial"/>
                <a:ea typeface="Arial"/>
                <a:cs typeface="Arial"/>
                <a:sym typeface="Arial"/>
              </a:rPr>
              <a:t>This shows how media encourages girls to shrink themselves, physically and mentally.</a:t>
            </a:r>
            <a:endParaRPr sz="52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ct val="100000"/>
              <a:buFont typeface="Arial"/>
              <a:buChar char="●"/>
            </a:pPr>
            <a:r>
              <a:rPr b="1" lang="en" sz="5200">
                <a:solidFill>
                  <a:srgbClr val="000000"/>
                </a:solidFill>
                <a:latin typeface="Arial"/>
                <a:ea typeface="Arial"/>
                <a:cs typeface="Arial"/>
                <a:sym typeface="Arial"/>
              </a:rPr>
              <a:t>Career Aspirations:</a:t>
            </a:r>
            <a:br>
              <a:rPr b="1" lang="en" sz="5200">
                <a:solidFill>
                  <a:srgbClr val="000000"/>
                </a:solidFill>
                <a:latin typeface="Arial"/>
                <a:ea typeface="Arial"/>
                <a:cs typeface="Arial"/>
                <a:sym typeface="Arial"/>
              </a:rPr>
            </a:br>
            <a:r>
              <a:rPr lang="en" sz="5200">
                <a:solidFill>
                  <a:srgbClr val="000000"/>
                </a:solidFill>
                <a:latin typeface="Arial"/>
                <a:ea typeface="Arial"/>
                <a:cs typeface="Arial"/>
                <a:sym typeface="Arial"/>
              </a:rPr>
              <a:t>When girls don’t see women in power - like CEOs, politicians, scientists - they’re less likely to imagine themselves in those roles.</a:t>
            </a:r>
            <a:br>
              <a:rPr lang="en" sz="5200">
                <a:solidFill>
                  <a:srgbClr val="000000"/>
                </a:solidFill>
                <a:latin typeface="Arial"/>
                <a:ea typeface="Arial"/>
                <a:cs typeface="Arial"/>
                <a:sym typeface="Arial"/>
              </a:rPr>
            </a:br>
            <a:r>
              <a:rPr lang="en" sz="5200">
                <a:solidFill>
                  <a:srgbClr val="000000"/>
                </a:solidFill>
                <a:latin typeface="Arial"/>
                <a:ea typeface="Arial"/>
                <a:cs typeface="Arial"/>
                <a:sym typeface="Arial"/>
              </a:rPr>
              <a:t>The film discusses how women like Hillary Clinton and Sarah Palin were often criticized for their clothes or tone of voice more than their policies.</a:t>
            </a:r>
            <a:endParaRPr sz="52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ct val="100000"/>
              <a:buFont typeface="Arial"/>
              <a:buChar char="●"/>
            </a:pPr>
            <a:r>
              <a:rPr b="1" lang="en" sz="5200">
                <a:solidFill>
                  <a:srgbClr val="000000"/>
                </a:solidFill>
                <a:latin typeface="Arial"/>
                <a:ea typeface="Arial"/>
                <a:cs typeface="Arial"/>
                <a:sym typeface="Arial"/>
              </a:rPr>
              <a:t>Politics:</a:t>
            </a:r>
            <a:br>
              <a:rPr b="1" lang="en" sz="5200">
                <a:solidFill>
                  <a:srgbClr val="000000"/>
                </a:solidFill>
                <a:latin typeface="Arial"/>
                <a:ea typeface="Arial"/>
                <a:cs typeface="Arial"/>
                <a:sym typeface="Arial"/>
              </a:rPr>
            </a:br>
            <a:r>
              <a:rPr lang="en" sz="5200">
                <a:solidFill>
                  <a:srgbClr val="000000"/>
                </a:solidFill>
                <a:latin typeface="Arial"/>
                <a:ea typeface="Arial"/>
                <a:cs typeface="Arial"/>
                <a:sym typeface="Arial"/>
              </a:rPr>
              <a:t>Newsom points out that media coverage of female leaders is often sexist, undermining their authority.</a:t>
            </a:r>
            <a:br>
              <a:rPr lang="en" sz="5200">
                <a:solidFill>
                  <a:srgbClr val="000000"/>
                </a:solidFill>
                <a:latin typeface="Arial"/>
                <a:ea typeface="Arial"/>
                <a:cs typeface="Arial"/>
                <a:sym typeface="Arial"/>
              </a:rPr>
            </a:br>
            <a:r>
              <a:rPr lang="en" sz="5200">
                <a:solidFill>
                  <a:srgbClr val="000000"/>
                </a:solidFill>
                <a:latin typeface="Arial"/>
                <a:ea typeface="Arial"/>
                <a:cs typeface="Arial"/>
                <a:sym typeface="Arial"/>
              </a:rPr>
              <a:t>Example: Nancy Pelosi’s leadership was reduced to how she “looks” or “smiles.”</a:t>
            </a:r>
            <a:endParaRPr sz="52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ct val="100000"/>
              <a:buFont typeface="Arial"/>
              <a:buChar char="●"/>
            </a:pPr>
            <a:r>
              <a:rPr b="1" lang="en" sz="5200">
                <a:solidFill>
                  <a:srgbClr val="000000"/>
                </a:solidFill>
                <a:latin typeface="Arial"/>
                <a:ea typeface="Arial"/>
                <a:cs typeface="Arial"/>
                <a:sym typeface="Arial"/>
              </a:rPr>
              <a:t>Relationships &amp; Gender Norms:</a:t>
            </a:r>
            <a:br>
              <a:rPr b="1" lang="en" sz="5200">
                <a:solidFill>
                  <a:srgbClr val="000000"/>
                </a:solidFill>
                <a:latin typeface="Arial"/>
                <a:ea typeface="Arial"/>
                <a:cs typeface="Arial"/>
                <a:sym typeface="Arial"/>
              </a:rPr>
            </a:br>
            <a:r>
              <a:rPr lang="en" sz="5200">
                <a:solidFill>
                  <a:srgbClr val="000000"/>
                </a:solidFill>
                <a:latin typeface="Arial"/>
                <a:ea typeface="Arial"/>
                <a:cs typeface="Arial"/>
                <a:sym typeface="Arial"/>
              </a:rPr>
              <a:t>Romantic films often show women’s happiness as depending on men. </a:t>
            </a:r>
            <a:r>
              <a:rPr i="1" lang="en" sz="5200">
                <a:solidFill>
                  <a:srgbClr val="000000"/>
                </a:solidFill>
                <a:latin typeface="Arial"/>
                <a:ea typeface="Arial"/>
                <a:cs typeface="Arial"/>
                <a:sym typeface="Arial"/>
              </a:rPr>
              <a:t>Miss Representation</a:t>
            </a:r>
            <a:r>
              <a:rPr lang="en" sz="5200">
                <a:solidFill>
                  <a:srgbClr val="000000"/>
                </a:solidFill>
                <a:latin typeface="Arial"/>
                <a:ea typeface="Arial"/>
                <a:cs typeface="Arial"/>
                <a:sym typeface="Arial"/>
              </a:rPr>
              <a:t> argues that this trains women to prioritize being desirable over being fulfilled.</a:t>
            </a:r>
            <a:endParaRPr sz="52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ct val="100000"/>
              <a:buFont typeface="Arial"/>
              <a:buChar char="●"/>
            </a:pPr>
            <a:r>
              <a:rPr b="1" lang="en" sz="5200">
                <a:solidFill>
                  <a:srgbClr val="000000"/>
                </a:solidFill>
                <a:latin typeface="Arial"/>
                <a:ea typeface="Arial"/>
                <a:cs typeface="Arial"/>
                <a:sym typeface="Arial"/>
              </a:rPr>
              <a:t>Mental Health:</a:t>
            </a:r>
            <a:br>
              <a:rPr b="1" lang="en" sz="5200">
                <a:solidFill>
                  <a:srgbClr val="000000"/>
                </a:solidFill>
                <a:latin typeface="Arial"/>
                <a:ea typeface="Arial"/>
                <a:cs typeface="Arial"/>
                <a:sym typeface="Arial"/>
              </a:rPr>
            </a:br>
            <a:r>
              <a:rPr lang="en" sz="5200">
                <a:solidFill>
                  <a:srgbClr val="000000"/>
                </a:solidFill>
                <a:latin typeface="Arial"/>
                <a:ea typeface="Arial"/>
                <a:cs typeface="Arial"/>
                <a:sym typeface="Arial"/>
              </a:rPr>
              <a:t>The film highlights rising rates of depression and anxiety among teenage girls, linking this partly to media pressure and unrealistic beauty standards.</a:t>
            </a:r>
            <a:endParaRPr sz="5200">
              <a:solidFill>
                <a:srgbClr val="000000"/>
              </a:solidFill>
              <a:latin typeface="Arial"/>
              <a:ea typeface="Arial"/>
              <a:cs typeface="Arial"/>
              <a:sym typeface="Arial"/>
            </a:endParaRPr>
          </a:p>
          <a:p>
            <a:pPr indent="0" lvl="0" marL="457200" rtl="0" algn="l">
              <a:spcBef>
                <a:spcPts val="1200"/>
              </a:spcBef>
              <a:spcAft>
                <a:spcPts val="0"/>
              </a:spcAft>
              <a:buNone/>
            </a:pPr>
            <a:r>
              <a:t/>
            </a:r>
            <a:endParaRPr b="1" sz="1929">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44475" y="293500"/>
            <a:ext cx="64575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Signs of Hope mentioned in the document</a:t>
            </a:r>
            <a:endParaRPr sz="3200"/>
          </a:p>
        </p:txBody>
      </p:sp>
      <p:sp>
        <p:nvSpPr>
          <p:cNvPr id="123" name="Google Shape;123;p21"/>
          <p:cNvSpPr txBox="1"/>
          <p:nvPr>
            <p:ph idx="1" type="body"/>
          </p:nvPr>
        </p:nvSpPr>
        <p:spPr>
          <a:xfrm>
            <a:off x="567850" y="1201250"/>
            <a:ext cx="7665900" cy="36582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1018"/>
              <a:buNone/>
            </a:pPr>
            <a:r>
              <a:rPr lang="en" sz="1772">
                <a:solidFill>
                  <a:srgbClr val="000000"/>
                </a:solidFill>
                <a:latin typeface="Arial"/>
                <a:ea typeface="Arial"/>
                <a:cs typeface="Arial"/>
                <a:sym typeface="Arial"/>
              </a:rPr>
              <a:t>While </a:t>
            </a:r>
            <a:r>
              <a:rPr i="1" lang="en" sz="1772">
                <a:solidFill>
                  <a:srgbClr val="000000"/>
                </a:solidFill>
                <a:latin typeface="Arial"/>
                <a:ea typeface="Arial"/>
                <a:cs typeface="Arial"/>
                <a:sym typeface="Arial"/>
              </a:rPr>
              <a:t>Miss Representation</a:t>
            </a:r>
            <a:r>
              <a:rPr lang="en" sz="1772">
                <a:solidFill>
                  <a:srgbClr val="000000"/>
                </a:solidFill>
                <a:latin typeface="Arial"/>
                <a:ea typeface="Arial"/>
                <a:cs typeface="Arial"/>
                <a:sym typeface="Arial"/>
              </a:rPr>
              <a:t> focuses on problems, it also highlights growing movements for change:</a:t>
            </a:r>
            <a:endParaRPr sz="1772">
              <a:solidFill>
                <a:srgbClr val="000000"/>
              </a:solidFill>
              <a:latin typeface="Arial"/>
              <a:ea typeface="Arial"/>
              <a:cs typeface="Arial"/>
              <a:sym typeface="Arial"/>
            </a:endParaRPr>
          </a:p>
          <a:p>
            <a:pPr indent="-341153" lvl="0" marL="457200" rtl="0" algn="l">
              <a:lnSpc>
                <a:spcPct val="105000"/>
              </a:lnSpc>
              <a:spcBef>
                <a:spcPts val="1200"/>
              </a:spcBef>
              <a:spcAft>
                <a:spcPts val="0"/>
              </a:spcAft>
              <a:buClr>
                <a:srgbClr val="000000"/>
              </a:buClr>
              <a:buSzPts val="1773"/>
              <a:buFont typeface="Arial"/>
              <a:buChar char="●"/>
            </a:pPr>
            <a:r>
              <a:rPr lang="en" sz="1772">
                <a:solidFill>
                  <a:srgbClr val="000000"/>
                </a:solidFill>
                <a:latin typeface="Arial"/>
                <a:ea typeface="Arial"/>
                <a:cs typeface="Arial"/>
                <a:sym typeface="Arial"/>
              </a:rPr>
              <a:t>The film features </a:t>
            </a:r>
            <a:r>
              <a:rPr b="1" lang="en" sz="1772">
                <a:solidFill>
                  <a:srgbClr val="000000"/>
                </a:solidFill>
                <a:latin typeface="Arial"/>
                <a:ea typeface="Arial"/>
                <a:cs typeface="Arial"/>
                <a:sym typeface="Arial"/>
              </a:rPr>
              <a:t>female journalists, filmmakers, and activists</a:t>
            </a:r>
            <a:r>
              <a:rPr lang="en" sz="1772">
                <a:solidFill>
                  <a:srgbClr val="000000"/>
                </a:solidFill>
                <a:latin typeface="Arial"/>
                <a:ea typeface="Arial"/>
                <a:cs typeface="Arial"/>
                <a:sym typeface="Arial"/>
              </a:rPr>
              <a:t> who are pushing back against the stereotypes.</a:t>
            </a:r>
            <a:endParaRPr sz="1772">
              <a:solidFill>
                <a:srgbClr val="000000"/>
              </a:solidFill>
              <a:latin typeface="Arial"/>
              <a:ea typeface="Arial"/>
              <a:cs typeface="Arial"/>
              <a:sym typeface="Arial"/>
            </a:endParaRPr>
          </a:p>
          <a:p>
            <a:pPr indent="-341153" lvl="0" marL="457200" rtl="0" algn="l">
              <a:lnSpc>
                <a:spcPct val="105000"/>
              </a:lnSpc>
              <a:spcBef>
                <a:spcPts val="0"/>
              </a:spcBef>
              <a:spcAft>
                <a:spcPts val="0"/>
              </a:spcAft>
              <a:buClr>
                <a:srgbClr val="000000"/>
              </a:buClr>
              <a:buSzPts val="1773"/>
              <a:buFont typeface="Arial"/>
              <a:buChar char="●"/>
            </a:pPr>
            <a:r>
              <a:rPr lang="en" sz="1772">
                <a:solidFill>
                  <a:srgbClr val="000000"/>
                </a:solidFill>
                <a:latin typeface="Arial"/>
                <a:ea typeface="Arial"/>
                <a:cs typeface="Arial"/>
                <a:sym typeface="Arial"/>
              </a:rPr>
              <a:t>It mentions projects like the </a:t>
            </a:r>
            <a:r>
              <a:rPr b="1" lang="en" sz="1772">
                <a:solidFill>
                  <a:srgbClr val="000000"/>
                </a:solidFill>
                <a:latin typeface="Arial"/>
                <a:ea typeface="Arial"/>
                <a:cs typeface="Arial"/>
                <a:sym typeface="Arial"/>
              </a:rPr>
              <a:t>Geena Davis Institute on Gender in Media</a:t>
            </a:r>
            <a:r>
              <a:rPr lang="en" sz="1772">
                <a:solidFill>
                  <a:srgbClr val="000000"/>
                </a:solidFill>
                <a:latin typeface="Arial"/>
                <a:ea typeface="Arial"/>
                <a:cs typeface="Arial"/>
                <a:sym typeface="Arial"/>
              </a:rPr>
              <a:t>, which collects data and advocates for balance.</a:t>
            </a:r>
            <a:endParaRPr sz="1772">
              <a:solidFill>
                <a:srgbClr val="000000"/>
              </a:solidFill>
              <a:latin typeface="Arial"/>
              <a:ea typeface="Arial"/>
              <a:cs typeface="Arial"/>
              <a:sym typeface="Arial"/>
            </a:endParaRPr>
          </a:p>
          <a:p>
            <a:pPr indent="-341153" lvl="0" marL="457200" rtl="0" algn="l">
              <a:lnSpc>
                <a:spcPct val="105000"/>
              </a:lnSpc>
              <a:spcBef>
                <a:spcPts val="0"/>
              </a:spcBef>
              <a:spcAft>
                <a:spcPts val="0"/>
              </a:spcAft>
              <a:buClr>
                <a:srgbClr val="000000"/>
              </a:buClr>
              <a:buSzPts val="1773"/>
              <a:buFont typeface="Arial"/>
              <a:buChar char="●"/>
            </a:pPr>
            <a:r>
              <a:rPr lang="en" sz="1772">
                <a:solidFill>
                  <a:srgbClr val="000000"/>
                </a:solidFill>
                <a:latin typeface="Arial"/>
                <a:ea typeface="Arial"/>
                <a:cs typeface="Arial"/>
                <a:sym typeface="Arial"/>
              </a:rPr>
              <a:t>Interviewees celebrate films and shows that </a:t>
            </a:r>
            <a:r>
              <a:rPr b="1" lang="en" sz="1772">
                <a:solidFill>
                  <a:srgbClr val="000000"/>
                </a:solidFill>
                <a:latin typeface="Arial"/>
                <a:ea typeface="Arial"/>
                <a:cs typeface="Arial"/>
                <a:sym typeface="Arial"/>
              </a:rPr>
              <a:t>break traditional molds</a:t>
            </a:r>
            <a:r>
              <a:rPr lang="en" sz="1772">
                <a:solidFill>
                  <a:srgbClr val="000000"/>
                </a:solidFill>
                <a:latin typeface="Arial"/>
                <a:ea typeface="Arial"/>
                <a:cs typeface="Arial"/>
                <a:sym typeface="Arial"/>
              </a:rPr>
              <a:t>, like </a:t>
            </a:r>
            <a:r>
              <a:rPr i="1" lang="en" sz="1772">
                <a:solidFill>
                  <a:srgbClr val="000000"/>
                </a:solidFill>
                <a:latin typeface="Arial"/>
                <a:ea typeface="Arial"/>
                <a:cs typeface="Arial"/>
                <a:sym typeface="Arial"/>
              </a:rPr>
              <a:t>The Hunger Games</a:t>
            </a:r>
            <a:r>
              <a:rPr lang="en" sz="1772">
                <a:solidFill>
                  <a:srgbClr val="000000"/>
                </a:solidFill>
                <a:latin typeface="Arial"/>
                <a:ea typeface="Arial"/>
                <a:cs typeface="Arial"/>
                <a:sym typeface="Arial"/>
              </a:rPr>
              <a:t> and </a:t>
            </a:r>
            <a:r>
              <a:rPr i="1" lang="en" sz="1772">
                <a:solidFill>
                  <a:srgbClr val="000000"/>
                </a:solidFill>
                <a:latin typeface="Arial"/>
                <a:ea typeface="Arial"/>
                <a:cs typeface="Arial"/>
                <a:sym typeface="Arial"/>
              </a:rPr>
              <a:t>Grey's Anatomy</a:t>
            </a:r>
            <a:r>
              <a:rPr lang="en" sz="1772">
                <a:solidFill>
                  <a:srgbClr val="000000"/>
                </a:solidFill>
                <a:latin typeface="Arial"/>
                <a:ea typeface="Arial"/>
                <a:cs typeface="Arial"/>
                <a:sym typeface="Arial"/>
              </a:rPr>
              <a:t>.</a:t>
            </a:r>
            <a:endParaRPr sz="1772">
              <a:solidFill>
                <a:srgbClr val="000000"/>
              </a:solidFill>
              <a:latin typeface="Arial"/>
              <a:ea typeface="Arial"/>
              <a:cs typeface="Arial"/>
              <a:sym typeface="Arial"/>
            </a:endParaRPr>
          </a:p>
          <a:p>
            <a:pPr indent="-341153" lvl="0" marL="457200" rtl="0" algn="l">
              <a:lnSpc>
                <a:spcPct val="105000"/>
              </a:lnSpc>
              <a:spcBef>
                <a:spcPts val="0"/>
              </a:spcBef>
              <a:spcAft>
                <a:spcPts val="0"/>
              </a:spcAft>
              <a:buClr>
                <a:srgbClr val="000000"/>
              </a:buClr>
              <a:buSzPts val="1773"/>
              <a:buFont typeface="Arial"/>
              <a:buChar char="●"/>
            </a:pPr>
            <a:r>
              <a:rPr lang="en" sz="1772">
                <a:solidFill>
                  <a:srgbClr val="000000"/>
                </a:solidFill>
                <a:latin typeface="Arial"/>
                <a:ea typeface="Arial"/>
                <a:cs typeface="Arial"/>
                <a:sym typeface="Arial"/>
              </a:rPr>
              <a:t>The documentary itself is part of the solution - by giving voice to underrepresented women, it encourages viewers to demand better media.</a:t>
            </a:r>
            <a:endParaRPr sz="1772">
              <a:solidFill>
                <a:srgbClr val="000000"/>
              </a:solidFill>
              <a:latin typeface="Arial"/>
              <a:ea typeface="Arial"/>
              <a:cs typeface="Arial"/>
              <a:sym typeface="Arial"/>
            </a:endParaRPr>
          </a:p>
          <a:p>
            <a:pPr indent="0" lvl="0" marL="0" rtl="0" algn="l">
              <a:lnSpc>
                <a:spcPct val="105000"/>
              </a:lnSpc>
              <a:spcBef>
                <a:spcPts val="1200"/>
              </a:spcBef>
              <a:spcAft>
                <a:spcPts val="1200"/>
              </a:spcAft>
              <a:buSzPts val="1018"/>
              <a:buNone/>
            </a:pPr>
            <a:r>
              <a:t/>
            </a:r>
            <a:endParaRPr sz="1587"/>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90150" y="309075"/>
            <a:ext cx="5738100" cy="64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t>Final Refelction</a:t>
            </a:r>
            <a:endParaRPr sz="3400"/>
          </a:p>
        </p:txBody>
      </p:sp>
      <p:sp>
        <p:nvSpPr>
          <p:cNvPr id="129" name="Google Shape;129;p22"/>
          <p:cNvSpPr txBox="1"/>
          <p:nvPr>
            <p:ph idx="1" type="body"/>
          </p:nvPr>
        </p:nvSpPr>
        <p:spPr>
          <a:xfrm>
            <a:off x="311700" y="1092000"/>
            <a:ext cx="8458200" cy="35676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b="1" lang="en" sz="1400">
                <a:solidFill>
                  <a:srgbClr val="000000"/>
                </a:solidFill>
                <a:latin typeface="Arial"/>
                <a:ea typeface="Arial"/>
                <a:cs typeface="Arial"/>
                <a:sym typeface="Arial"/>
              </a:rPr>
              <a:t>1. Realizing the power of media</a:t>
            </a:r>
            <a:br>
              <a:rPr b="1" lang="en" sz="1400">
                <a:solidFill>
                  <a:srgbClr val="000000"/>
                </a:solidFill>
                <a:latin typeface="Arial"/>
                <a:ea typeface="Arial"/>
                <a:cs typeface="Arial"/>
                <a:sym typeface="Arial"/>
              </a:rPr>
            </a:br>
            <a:r>
              <a:rPr lang="en" sz="1400">
                <a:solidFill>
                  <a:srgbClr val="000000"/>
                </a:solidFill>
                <a:latin typeface="Arial"/>
                <a:ea typeface="Arial"/>
                <a:cs typeface="Arial"/>
                <a:sym typeface="Arial"/>
              </a:rPr>
              <a:t>Miss Representation showed me that media isn’t just entertainment—it influences how we see gender and ourselves. Stereotypes in media aren’t harmless; they shape our thoughts, values, and goals.</a:t>
            </a:r>
            <a:endParaRPr sz="1400">
              <a:solidFill>
                <a:srgbClr val="000000"/>
              </a:solidFill>
              <a:latin typeface="Arial"/>
              <a:ea typeface="Arial"/>
              <a:cs typeface="Arial"/>
              <a:sym typeface="Arial"/>
            </a:endParaRPr>
          </a:p>
          <a:p>
            <a:pPr indent="0" lvl="0" marL="457200" rtl="0" algn="l">
              <a:spcBef>
                <a:spcPts val="1200"/>
              </a:spcBef>
              <a:spcAft>
                <a:spcPts val="0"/>
              </a:spcAft>
              <a:buNone/>
            </a:pPr>
            <a:r>
              <a:rPr b="1" lang="en" sz="1400">
                <a:solidFill>
                  <a:srgbClr val="000000"/>
                </a:solidFill>
                <a:latin typeface="Arial"/>
                <a:ea typeface="Arial"/>
                <a:cs typeface="Arial"/>
                <a:sym typeface="Arial"/>
              </a:rPr>
              <a:t>2. Rethinking representation</a:t>
            </a:r>
            <a:br>
              <a:rPr b="1" lang="en" sz="1400">
                <a:solidFill>
                  <a:srgbClr val="000000"/>
                </a:solidFill>
                <a:latin typeface="Arial"/>
                <a:ea typeface="Arial"/>
                <a:cs typeface="Arial"/>
                <a:sym typeface="Arial"/>
              </a:rPr>
            </a:br>
            <a:r>
              <a:rPr lang="en" sz="1400">
                <a:solidFill>
                  <a:srgbClr val="000000"/>
                </a:solidFill>
                <a:latin typeface="Arial"/>
                <a:ea typeface="Arial"/>
                <a:cs typeface="Arial"/>
                <a:sym typeface="Arial"/>
              </a:rPr>
              <a:t>Representation is about more than fairness. It’s about identity, possibility, and visibility. When girls don’t see women in leadership or complex roles, it limits what they believe they can become.</a:t>
            </a:r>
            <a:endParaRPr sz="1400">
              <a:solidFill>
                <a:srgbClr val="000000"/>
              </a:solidFill>
              <a:latin typeface="Arial"/>
              <a:ea typeface="Arial"/>
              <a:cs typeface="Arial"/>
              <a:sym typeface="Arial"/>
            </a:endParaRPr>
          </a:p>
          <a:p>
            <a:pPr indent="0" lvl="0" marL="457200" rtl="0" algn="l">
              <a:spcBef>
                <a:spcPts val="1200"/>
              </a:spcBef>
              <a:spcAft>
                <a:spcPts val="0"/>
              </a:spcAft>
              <a:buNone/>
            </a:pPr>
            <a:r>
              <a:rPr b="1" lang="en" sz="1400">
                <a:solidFill>
                  <a:srgbClr val="000000"/>
                </a:solidFill>
                <a:latin typeface="Arial"/>
                <a:ea typeface="Arial"/>
                <a:cs typeface="Arial"/>
                <a:sym typeface="Arial"/>
              </a:rPr>
              <a:t>3. Becoming a more critical viewer</a:t>
            </a:r>
            <a:br>
              <a:rPr b="1" lang="en" sz="1400">
                <a:solidFill>
                  <a:srgbClr val="000000"/>
                </a:solidFill>
                <a:latin typeface="Arial"/>
                <a:ea typeface="Arial"/>
                <a:cs typeface="Arial"/>
                <a:sym typeface="Arial"/>
              </a:rPr>
            </a:br>
            <a:r>
              <a:rPr lang="en" sz="1400">
                <a:solidFill>
                  <a:srgbClr val="000000"/>
                </a:solidFill>
                <a:latin typeface="Arial"/>
                <a:ea typeface="Arial"/>
                <a:cs typeface="Arial"/>
                <a:sym typeface="Arial"/>
              </a:rPr>
              <a:t>I now watch movies, TV, and ads with more awareness. I ask: Who’s telling the story? What’s the message? Who’s left out? Media shapes culture, and we have to stay alert.</a:t>
            </a:r>
            <a:endParaRPr sz="1400">
              <a:solidFill>
                <a:srgbClr val="000000"/>
              </a:solidFill>
              <a:latin typeface="Arial"/>
              <a:ea typeface="Arial"/>
              <a:cs typeface="Arial"/>
              <a:sym typeface="Arial"/>
            </a:endParaRPr>
          </a:p>
          <a:p>
            <a:pPr indent="0" lvl="0" marL="457200" rtl="0" algn="l">
              <a:spcBef>
                <a:spcPts val="1200"/>
              </a:spcBef>
              <a:spcAft>
                <a:spcPts val="0"/>
              </a:spcAft>
              <a:buNone/>
            </a:pPr>
            <a:r>
              <a:rPr b="1" lang="en" sz="1400">
                <a:solidFill>
                  <a:srgbClr val="000000"/>
                </a:solidFill>
                <a:latin typeface="Arial"/>
                <a:ea typeface="Arial"/>
                <a:cs typeface="Arial"/>
                <a:sym typeface="Arial"/>
              </a:rPr>
              <a:t>4. Feeling inspired to advocate for change</a:t>
            </a:r>
            <a:br>
              <a:rPr b="1" lang="en" sz="1400">
                <a:solidFill>
                  <a:srgbClr val="000000"/>
                </a:solidFill>
                <a:latin typeface="Arial"/>
                <a:ea typeface="Arial"/>
                <a:cs typeface="Arial"/>
                <a:sym typeface="Arial"/>
              </a:rPr>
            </a:br>
            <a:r>
              <a:rPr lang="en" sz="1400">
                <a:solidFill>
                  <a:srgbClr val="000000"/>
                </a:solidFill>
                <a:latin typeface="Arial"/>
                <a:ea typeface="Arial"/>
                <a:cs typeface="Arial"/>
                <a:sym typeface="Arial"/>
              </a:rPr>
              <a:t>This project made me want to support honest, empowering stories about women. Change starts with awareness—and now that I’m aware, I want to be part of the solution.</a:t>
            </a:r>
            <a:endParaRPr sz="1400">
              <a:solidFill>
                <a:srgbClr val="000000"/>
              </a:solidFill>
              <a:latin typeface="Arial"/>
              <a:ea typeface="Arial"/>
              <a:cs typeface="Arial"/>
              <a:sym typeface="Arial"/>
            </a:endParaRPr>
          </a:p>
          <a:p>
            <a:pPr indent="0" lvl="0" marL="457200" rtl="0" algn="l">
              <a:spcBef>
                <a:spcPts val="1200"/>
              </a:spcBef>
              <a:spcAft>
                <a:spcPts val="0"/>
              </a:spcAft>
              <a:buNone/>
            </a:pPr>
            <a:r>
              <a:t/>
            </a:r>
            <a:endParaRPr b="1" sz="2300">
              <a:solidFill>
                <a:srgbClr val="000000"/>
              </a:solidFill>
              <a:latin typeface="Arial"/>
              <a:ea typeface="Arial"/>
              <a:cs typeface="Arial"/>
              <a:sym typeface="Arial"/>
            </a:endParaRPr>
          </a:p>
          <a:p>
            <a:pPr indent="0" lvl="0" marL="0" rtl="0" algn="l">
              <a:spcBef>
                <a:spcPts val="1200"/>
              </a:spcBef>
              <a:spcAft>
                <a:spcPts val="1200"/>
              </a:spcAft>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idx="4294967295" type="title"/>
          </p:nvPr>
        </p:nvSpPr>
        <p:spPr>
          <a:xfrm>
            <a:off x="871975" y="418550"/>
            <a:ext cx="7596600" cy="761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2"/>
                </a:solidFill>
              </a:rPr>
              <a:t>“</a:t>
            </a:r>
            <a:r>
              <a:rPr lang="en">
                <a:solidFill>
                  <a:schemeClr val="lt2"/>
                </a:solidFill>
              </a:rPr>
              <a:t>Work Cited</a:t>
            </a:r>
            <a:r>
              <a:rPr lang="en">
                <a:solidFill>
                  <a:schemeClr val="lt2"/>
                </a:solidFill>
              </a:rPr>
              <a:t>”</a:t>
            </a:r>
            <a:endParaRPr>
              <a:solidFill>
                <a:schemeClr val="lt2"/>
              </a:solidFill>
            </a:endParaRPr>
          </a:p>
        </p:txBody>
      </p:sp>
      <p:cxnSp>
        <p:nvCxnSpPr>
          <p:cNvPr id="135" name="Google Shape;135;p23"/>
          <p:cNvCxnSpPr/>
          <p:nvPr/>
        </p:nvCxnSpPr>
        <p:spPr>
          <a:xfrm>
            <a:off x="4437525" y="1361100"/>
            <a:ext cx="552900" cy="0"/>
          </a:xfrm>
          <a:prstGeom prst="straightConnector1">
            <a:avLst/>
          </a:prstGeom>
          <a:noFill/>
          <a:ln cap="flat" cmpd="sng" w="28575">
            <a:solidFill>
              <a:schemeClr val="dk1"/>
            </a:solidFill>
            <a:prstDash val="solid"/>
            <a:round/>
            <a:headEnd len="sm" w="sm" type="none"/>
            <a:tailEnd len="sm" w="sm" type="none"/>
          </a:ln>
        </p:spPr>
      </p:cxnSp>
      <p:sp>
        <p:nvSpPr>
          <p:cNvPr id="136" name="Google Shape;136;p23"/>
          <p:cNvSpPr txBox="1"/>
          <p:nvPr>
            <p:ph idx="4294967295" type="body"/>
          </p:nvPr>
        </p:nvSpPr>
        <p:spPr>
          <a:xfrm>
            <a:off x="273000" y="1541950"/>
            <a:ext cx="8452500" cy="3405000"/>
          </a:xfrm>
          <a:prstGeom prst="rect">
            <a:avLst/>
          </a:prstGeom>
        </p:spPr>
        <p:txBody>
          <a:bodyPr anchorCtr="0" anchor="t" bIns="91425" lIns="91425" spcFirstLastPara="1" rIns="91425" wrap="square" tIns="91425">
            <a:noAutofit/>
          </a:bodyPr>
          <a:lstStyle/>
          <a:p>
            <a:pPr indent="-313820" lvl="0" marL="457200" rtl="0" algn="l">
              <a:spcBef>
                <a:spcPts val="1200"/>
              </a:spcBef>
              <a:spcAft>
                <a:spcPts val="0"/>
              </a:spcAft>
              <a:buClr>
                <a:srgbClr val="000000"/>
              </a:buClr>
              <a:buSzPts val="1342"/>
              <a:buFont typeface="Arial"/>
              <a:buChar char="●"/>
            </a:pPr>
            <a:r>
              <a:rPr lang="en" sz="1500">
                <a:solidFill>
                  <a:srgbClr val="000000"/>
                </a:solidFill>
                <a:latin typeface="Arial"/>
                <a:ea typeface="Arial"/>
                <a:cs typeface="Arial"/>
                <a:sym typeface="Arial"/>
              </a:rPr>
              <a:t>Newsom, Jennifer Siebel, director. </a:t>
            </a:r>
            <a:r>
              <a:rPr i="1" lang="en" sz="1500">
                <a:solidFill>
                  <a:srgbClr val="000000"/>
                </a:solidFill>
                <a:latin typeface="Arial"/>
                <a:ea typeface="Arial"/>
                <a:cs typeface="Arial"/>
                <a:sym typeface="Arial"/>
              </a:rPr>
              <a:t>Miss Representation</a:t>
            </a:r>
            <a:r>
              <a:rPr lang="en" sz="1500">
                <a:solidFill>
                  <a:srgbClr val="000000"/>
                </a:solidFill>
                <a:latin typeface="Arial"/>
                <a:ea typeface="Arial"/>
                <a:cs typeface="Arial"/>
                <a:sym typeface="Arial"/>
              </a:rPr>
              <a:t>. OWN Documentary Club, 2011.</a:t>
            </a:r>
            <a:endParaRPr sz="1500">
              <a:solidFill>
                <a:srgbClr val="000000"/>
              </a:solidFill>
              <a:latin typeface="Arial"/>
              <a:ea typeface="Arial"/>
              <a:cs typeface="Arial"/>
              <a:sym typeface="Arial"/>
            </a:endParaRPr>
          </a:p>
          <a:p>
            <a:pPr indent="-313820" lvl="0" marL="457200" rtl="0" algn="l">
              <a:spcBef>
                <a:spcPts val="0"/>
              </a:spcBef>
              <a:spcAft>
                <a:spcPts val="0"/>
              </a:spcAft>
              <a:buClr>
                <a:srgbClr val="000000"/>
              </a:buClr>
              <a:buSzPts val="1342"/>
              <a:buFont typeface="Arial"/>
              <a:buChar char="●"/>
            </a:pPr>
            <a:r>
              <a:rPr lang="en" sz="1500">
                <a:solidFill>
                  <a:srgbClr val="000000"/>
                </a:solidFill>
                <a:latin typeface="Arial"/>
                <a:ea typeface="Arial"/>
                <a:cs typeface="Arial"/>
                <a:sym typeface="Arial"/>
              </a:rPr>
              <a:t>Geena Davis Institute on Gender in Media. </a:t>
            </a:r>
            <a:r>
              <a:rPr i="1" lang="en" sz="1500">
                <a:solidFill>
                  <a:srgbClr val="000000"/>
                </a:solidFill>
                <a:latin typeface="Arial"/>
                <a:ea typeface="Arial"/>
                <a:cs typeface="Arial"/>
                <a:sym typeface="Arial"/>
              </a:rPr>
              <a:t>See Jane</a:t>
            </a:r>
            <a:r>
              <a:rPr lang="en" sz="1500">
                <a:solidFill>
                  <a:srgbClr val="000000"/>
                </a:solidFill>
                <a:latin typeface="Arial"/>
                <a:ea typeface="Arial"/>
                <a:cs typeface="Arial"/>
                <a:sym typeface="Arial"/>
              </a:rPr>
              <a:t>. </a:t>
            </a:r>
            <a:r>
              <a:rPr lang="en" sz="1500" u="sng">
                <a:solidFill>
                  <a:schemeClr val="hlink"/>
                </a:solidFill>
                <a:latin typeface="Arial"/>
                <a:ea typeface="Arial"/>
                <a:cs typeface="Arial"/>
                <a:sym typeface="Arial"/>
                <a:hlinkClick r:id="rId3"/>
              </a:rPr>
              <a:t>www.seejane.org</a:t>
            </a:r>
            <a:r>
              <a:rPr lang="en" sz="1500">
                <a:solidFill>
                  <a:srgbClr val="000000"/>
                </a:solidFill>
                <a:latin typeface="Arial"/>
                <a:ea typeface="Arial"/>
                <a:cs typeface="Arial"/>
                <a:sym typeface="Arial"/>
              </a:rPr>
              <a:t>. Accessed 15 Apr. 2025.</a:t>
            </a:r>
            <a:endParaRPr sz="1500">
              <a:solidFill>
                <a:srgbClr val="000000"/>
              </a:solidFill>
              <a:latin typeface="Arial"/>
              <a:ea typeface="Arial"/>
              <a:cs typeface="Arial"/>
              <a:sym typeface="Arial"/>
            </a:endParaRPr>
          </a:p>
          <a:p>
            <a:pPr indent="-313820" lvl="0" marL="457200" rtl="0" algn="l">
              <a:spcBef>
                <a:spcPts val="0"/>
              </a:spcBef>
              <a:spcAft>
                <a:spcPts val="0"/>
              </a:spcAft>
              <a:buClr>
                <a:srgbClr val="000000"/>
              </a:buClr>
              <a:buSzPts val="1342"/>
              <a:buFont typeface="Arial"/>
              <a:buChar char="●"/>
            </a:pPr>
            <a:r>
              <a:rPr lang="en" sz="1500">
                <a:solidFill>
                  <a:srgbClr val="000000"/>
                </a:solidFill>
                <a:latin typeface="Arial"/>
                <a:ea typeface="Arial"/>
                <a:cs typeface="Arial"/>
                <a:sym typeface="Arial"/>
              </a:rPr>
              <a:t>Sandberg, Sheryl. </a:t>
            </a:r>
            <a:r>
              <a:rPr i="1" lang="en" sz="1500">
                <a:solidFill>
                  <a:srgbClr val="000000"/>
                </a:solidFill>
                <a:latin typeface="Arial"/>
                <a:ea typeface="Arial"/>
                <a:cs typeface="Arial"/>
                <a:sym typeface="Arial"/>
              </a:rPr>
              <a:t>Lean In: Women, Work, and the Will to Lead</a:t>
            </a:r>
            <a:r>
              <a:rPr lang="en" sz="1500">
                <a:solidFill>
                  <a:srgbClr val="000000"/>
                </a:solidFill>
                <a:latin typeface="Arial"/>
                <a:ea typeface="Arial"/>
                <a:cs typeface="Arial"/>
                <a:sym typeface="Arial"/>
              </a:rPr>
              <a:t>. Knopf, 2013.</a:t>
            </a:r>
            <a:endParaRPr sz="1500">
              <a:solidFill>
                <a:srgbClr val="000000"/>
              </a:solidFill>
              <a:latin typeface="Arial"/>
              <a:ea typeface="Arial"/>
              <a:cs typeface="Arial"/>
              <a:sym typeface="Arial"/>
            </a:endParaRPr>
          </a:p>
          <a:p>
            <a:pPr indent="-313820" lvl="0" marL="457200" rtl="0" algn="l">
              <a:spcBef>
                <a:spcPts val="0"/>
              </a:spcBef>
              <a:spcAft>
                <a:spcPts val="0"/>
              </a:spcAft>
              <a:buClr>
                <a:srgbClr val="000000"/>
              </a:buClr>
              <a:buSzPts val="1342"/>
              <a:buFont typeface="Arial"/>
              <a:buChar char="●"/>
            </a:pPr>
            <a:r>
              <a:rPr lang="en" sz="1500">
                <a:solidFill>
                  <a:srgbClr val="000000"/>
                </a:solidFill>
                <a:latin typeface="Arial"/>
                <a:ea typeface="Arial"/>
                <a:cs typeface="Arial"/>
                <a:sym typeface="Arial"/>
              </a:rPr>
              <a:t>“Viola Davis.” </a:t>
            </a:r>
            <a:r>
              <a:rPr i="1" lang="en" sz="1500">
                <a:solidFill>
                  <a:srgbClr val="000000"/>
                </a:solidFill>
                <a:latin typeface="Arial"/>
                <a:ea typeface="Arial"/>
                <a:cs typeface="Arial"/>
                <a:sym typeface="Arial"/>
              </a:rPr>
              <a:t>Wikipedia</a:t>
            </a:r>
            <a:r>
              <a:rPr lang="en" sz="1500">
                <a:solidFill>
                  <a:srgbClr val="000000"/>
                </a:solidFill>
                <a:latin typeface="Arial"/>
                <a:ea typeface="Arial"/>
                <a:cs typeface="Arial"/>
                <a:sym typeface="Arial"/>
              </a:rPr>
              <a:t>, Wikimedia Foundation, 15 Apr. 2025, </a:t>
            </a:r>
            <a:r>
              <a:rPr lang="en" sz="1500" u="sng">
                <a:solidFill>
                  <a:schemeClr val="hlink"/>
                </a:solidFill>
                <a:latin typeface="Arial"/>
                <a:ea typeface="Arial"/>
                <a:cs typeface="Arial"/>
                <a:sym typeface="Arial"/>
                <a:hlinkClick r:id="rId4"/>
              </a:rPr>
              <a:t>https://en.wikipedia.org/wiki/Viola_Davis</a:t>
            </a:r>
            <a:r>
              <a:rPr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13820" lvl="0" marL="457200" rtl="0" algn="l">
              <a:spcBef>
                <a:spcPts val="0"/>
              </a:spcBef>
              <a:spcAft>
                <a:spcPts val="0"/>
              </a:spcAft>
              <a:buClr>
                <a:srgbClr val="000000"/>
              </a:buClr>
              <a:buSzPts val="1342"/>
              <a:buFont typeface="Arial"/>
              <a:buChar char="●"/>
            </a:pPr>
            <a:r>
              <a:rPr lang="en" sz="1500">
                <a:solidFill>
                  <a:srgbClr val="000000"/>
                </a:solidFill>
                <a:latin typeface="Arial"/>
                <a:ea typeface="Arial"/>
                <a:cs typeface="Arial"/>
                <a:sym typeface="Arial"/>
              </a:rPr>
              <a:t>“Ruth Bader Ginsburg.” </a:t>
            </a:r>
            <a:r>
              <a:rPr i="1" lang="en" sz="1500">
                <a:solidFill>
                  <a:srgbClr val="000000"/>
                </a:solidFill>
                <a:latin typeface="Arial"/>
                <a:ea typeface="Arial"/>
                <a:cs typeface="Arial"/>
                <a:sym typeface="Arial"/>
              </a:rPr>
              <a:t>Wikipedia</a:t>
            </a:r>
            <a:r>
              <a:rPr lang="en" sz="1500">
                <a:solidFill>
                  <a:srgbClr val="000000"/>
                </a:solidFill>
                <a:latin typeface="Arial"/>
                <a:ea typeface="Arial"/>
                <a:cs typeface="Arial"/>
                <a:sym typeface="Arial"/>
              </a:rPr>
              <a:t>, Wikimedia Foundation, 15 Apr. 2025, </a:t>
            </a:r>
            <a:r>
              <a:rPr lang="en" sz="1500" u="sng">
                <a:solidFill>
                  <a:schemeClr val="hlink"/>
                </a:solidFill>
                <a:latin typeface="Arial"/>
                <a:ea typeface="Arial"/>
                <a:cs typeface="Arial"/>
                <a:sym typeface="Arial"/>
                <a:hlinkClick r:id="rId5"/>
              </a:rPr>
              <a:t>https://en.wikipedia.org/wiki/Ruth_Bader_Ginsburg</a:t>
            </a:r>
            <a:r>
              <a:rPr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13820" lvl="0" marL="457200" rtl="0" algn="l">
              <a:spcBef>
                <a:spcPts val="0"/>
              </a:spcBef>
              <a:spcAft>
                <a:spcPts val="0"/>
              </a:spcAft>
              <a:buClr>
                <a:srgbClr val="000000"/>
              </a:buClr>
              <a:buSzPts val="1342"/>
              <a:buFont typeface="Arial"/>
              <a:buChar char="●"/>
            </a:pPr>
            <a:r>
              <a:rPr lang="en" sz="1500">
                <a:solidFill>
                  <a:srgbClr val="000000"/>
                </a:solidFill>
                <a:latin typeface="Arial"/>
                <a:ea typeface="Arial"/>
                <a:cs typeface="Arial"/>
                <a:sym typeface="Arial"/>
              </a:rPr>
              <a:t>“Chimamanda Ngozi Adichie.” </a:t>
            </a:r>
            <a:r>
              <a:rPr i="1" lang="en" sz="1500">
                <a:solidFill>
                  <a:srgbClr val="000000"/>
                </a:solidFill>
                <a:latin typeface="Arial"/>
                <a:ea typeface="Arial"/>
                <a:cs typeface="Arial"/>
                <a:sym typeface="Arial"/>
              </a:rPr>
              <a:t>Wikipedia</a:t>
            </a:r>
            <a:r>
              <a:rPr lang="en" sz="1500">
                <a:solidFill>
                  <a:srgbClr val="000000"/>
                </a:solidFill>
                <a:latin typeface="Arial"/>
                <a:ea typeface="Arial"/>
                <a:cs typeface="Arial"/>
                <a:sym typeface="Arial"/>
              </a:rPr>
              <a:t>, Wikimedia Foundation, 15 Apr. 2025, </a:t>
            </a:r>
            <a:r>
              <a:rPr lang="en" sz="1500" u="sng">
                <a:solidFill>
                  <a:schemeClr val="hlink"/>
                </a:solidFill>
                <a:latin typeface="Arial"/>
                <a:ea typeface="Arial"/>
                <a:cs typeface="Arial"/>
                <a:sym typeface="Arial"/>
                <a:hlinkClick r:id="rId6"/>
              </a:rPr>
              <a:t>https://en.wikipedia.org/wiki/Chimamanda_Ngozi_Adichie</a:t>
            </a:r>
            <a:r>
              <a:rPr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13820" lvl="0" marL="457200" rtl="0" algn="l">
              <a:spcBef>
                <a:spcPts val="0"/>
              </a:spcBef>
              <a:spcAft>
                <a:spcPts val="0"/>
              </a:spcAft>
              <a:buClr>
                <a:srgbClr val="000000"/>
              </a:buClr>
              <a:buSzPts val="1342"/>
              <a:buFont typeface="Arial"/>
              <a:buChar char="●"/>
            </a:pPr>
            <a:r>
              <a:rPr lang="en" sz="1500">
                <a:solidFill>
                  <a:srgbClr val="000000"/>
                </a:solidFill>
                <a:latin typeface="Arial"/>
                <a:ea typeface="Arial"/>
                <a:cs typeface="Arial"/>
                <a:sym typeface="Arial"/>
              </a:rPr>
              <a:t>Edelman, Marian Wright. Quoted in </a:t>
            </a:r>
            <a:r>
              <a:rPr i="1" lang="en" sz="1500">
                <a:solidFill>
                  <a:srgbClr val="000000"/>
                </a:solidFill>
                <a:latin typeface="Arial"/>
                <a:ea typeface="Arial"/>
                <a:cs typeface="Arial"/>
                <a:sym typeface="Arial"/>
              </a:rPr>
              <a:t>Miss Representation</a:t>
            </a:r>
            <a:r>
              <a:rPr lang="en" sz="1500">
                <a:solidFill>
                  <a:srgbClr val="000000"/>
                </a:solidFill>
                <a:latin typeface="Arial"/>
                <a:ea typeface="Arial"/>
                <a:cs typeface="Arial"/>
                <a:sym typeface="Arial"/>
              </a:rPr>
              <a:t>. OWN Documentary Club, 2011.</a:t>
            </a:r>
            <a:endParaRPr sz="1500">
              <a:solidFill>
                <a:srgbClr val="000000"/>
              </a:solidFill>
              <a:latin typeface="Arial"/>
              <a:ea typeface="Arial"/>
              <a:cs typeface="Arial"/>
              <a:sym typeface="Arial"/>
            </a:endParaRPr>
          </a:p>
          <a:p>
            <a:pPr indent="0" lvl="0" marL="457200" rtl="0" algn="l">
              <a:lnSpc>
                <a:spcPct val="95000"/>
              </a:lnSpc>
              <a:spcBef>
                <a:spcPts val="1200"/>
              </a:spcBef>
              <a:spcAft>
                <a:spcPts val="0"/>
              </a:spcAft>
              <a:buNone/>
            </a:pPr>
            <a:r>
              <a:t/>
            </a:r>
            <a:endParaRPr b="1" sz="942">
              <a:solidFill>
                <a:srgbClr val="000000"/>
              </a:solidFill>
              <a:latin typeface="Arial"/>
              <a:ea typeface="Arial"/>
              <a:cs typeface="Arial"/>
              <a:sym typeface="Arial"/>
            </a:endParaRPr>
          </a:p>
          <a:p>
            <a:pPr indent="0" lvl="0" marL="0" rtl="0" algn="ctr">
              <a:lnSpc>
                <a:spcPct val="80000"/>
              </a:lnSpc>
              <a:spcBef>
                <a:spcPts val="1200"/>
              </a:spcBef>
              <a:spcAft>
                <a:spcPts val="0"/>
              </a:spcAft>
              <a:buSzPts val="275"/>
              <a:buNone/>
            </a:pPr>
            <a:r>
              <a:t/>
            </a:r>
            <a:endParaRPr sz="55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